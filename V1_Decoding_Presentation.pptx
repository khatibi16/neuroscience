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Neurons</c:v>
                </c:pt>
              </c:strCache>
            </c:strRef>
          </c:tx>
          <c:spPr>
            <a:solidFill>
              <a:srgbClr val="1A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78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5BD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D9E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L4</c:v>
                  </c:pt>
                  <c:pt idx="1">
                    <c:v>L2/3</c:v>
                  </c:pt>
                  <c:pt idx="2">
                    <c:v>L5</c:v>
                  </c:pt>
                  <c:pt idx="3">
                    <c:v>L6</c:v>
                  </c:pt>
                  <c:pt idx="4">
                    <c:v>L1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257</c:v>
                </c:pt>
                <c:pt idx="1">
                  <c:v>220</c:v>
                </c:pt>
                <c:pt idx="2">
                  <c:v>89</c:v>
                </c:pt>
                <c:pt idx="3">
                  <c:v>12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Stimuli</c:v>
                </c:pt>
              </c:strCache>
            </c:strRef>
          </c:tx>
          <c:spPr>
            <a:solidFill>
              <a:srgbClr val="1A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A9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Clips</c:v>
                  </c:pt>
                  <c:pt idx="1">
                    <c:v>Monet2</c:v>
                  </c:pt>
                  <c:pt idx="2">
                    <c:v>Trippy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PCA</c:v>
                </c:pt>
              </c:strCache>
            </c:strRef>
          </c:tx>
          <c:spPr>
            <a:solidFill>
              <a:srgbClr val="1A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neurons</c:v>
                  </c:pt>
                  <c:pt idx="1">
                    <c:v>L4</c:v>
                  </c:pt>
                  <c:pt idx="2">
                    <c:v>L2/3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0.465</c:v>
                </c:pt>
                <c:pt idx="1">
                  <c:v>0.519</c:v>
                </c:pt>
                <c:pt idx="2">
                  <c:v>0.499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UMAP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neurons</c:v>
                  </c:pt>
                  <c:pt idx="1">
                    <c:v>L4</c:v>
                  </c:pt>
                  <c:pt idx="2">
                    <c:v>L2/3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0.515</c:v>
                </c:pt>
                <c:pt idx="1">
                  <c:v>0.558</c:v>
                </c:pt>
                <c:pt idx="2">
                  <c:v>0.432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CEBRA</c:v>
                </c:pt>
              </c:strCache>
            </c:strRef>
          </c:tx>
          <c:spPr>
            <a:solidFill>
              <a:srgbClr val="22A9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neurons</c:v>
                  </c:pt>
                  <c:pt idx="1">
                    <c:v>L4</c:v>
                  </c:pt>
                  <c:pt idx="2">
                    <c:v>L2/3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0.274</c:v>
                </c:pt>
                <c:pt idx="1">
                  <c:v>0.4</c:v>
                </c:pt>
                <c:pt idx="2">
                  <c:v>0.358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I (trial-avg)</c:v>
                </c:pt>
              </c:strCache>
            </c:strRef>
          </c:tx>
          <c:spPr>
            <a:solidFill>
              <a:srgbClr val="B0C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PCA-2D</c:v>
                  </c:pt>
                  <c:pt idx="1">
                    <c:v>UMAP-2D</c:v>
                  </c:pt>
                  <c:pt idx="2">
                    <c:v>CEBRA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0.465</c:v>
                </c:pt>
                <c:pt idx="1">
                  <c:v>0.515</c:v>
                </c:pt>
                <c:pt idx="2">
                  <c:v>0.274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 II (per-bin)</c:v>
                </c:pt>
              </c:strCache>
            </c:strRef>
          </c:tx>
          <c:spPr>
            <a:solidFill>
              <a:srgbClr val="1A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PCA-2D</c:v>
                  </c:pt>
                  <c:pt idx="1">
                    <c:v>UMAP-2D</c:v>
                  </c:pt>
                  <c:pt idx="2">
                    <c:v>CEBRA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0.457</c:v>
                </c:pt>
                <c:pt idx="1">
                  <c:v>0.385</c:v>
                </c:pt>
                <c:pt idx="2">
                  <c:v>0.812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Bal. Acc.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D0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All (579)</c:v>
                  </c:pt>
                  <c:pt idx="1">
                    <c:v>L4 (257)</c:v>
                  </c:pt>
                  <c:pt idx="2">
                    <c:v>L2/3 (220)</c:v>
                  </c:pt>
                  <c:pt idx="3">
                    <c:v>L5 (89)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0.813</c:v>
                </c:pt>
                <c:pt idx="1">
                  <c:v>0.832</c:v>
                </c:pt>
                <c:pt idx="2">
                  <c:v>0.758</c:v>
                </c:pt>
                <c:pt idx="3">
                  <c:v>0.791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182880"/>
            <a:ext cx="1463040" cy="1463040"/>
          </a:xfrm>
          <a:prstGeom prst="ellipse">
            <a:avLst/>
          </a:prstGeom>
          <a:solidFill>
            <a:srgbClr val="1A3560">
              <a:alpha val="20000"/>
            </a:srgbClr>
          </a:solidFill>
          <a:ln w="12700">
            <a:solidFill>
              <a:srgbClr val="1A3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-182880"/>
            <a:ext cx="1463040" cy="1463040"/>
          </a:xfrm>
          <a:prstGeom prst="ellipse">
            <a:avLst/>
          </a:prstGeom>
          <a:solidFill>
            <a:srgbClr val="1A3560">
              <a:alpha val="20000"/>
            </a:srgbClr>
          </a:solidFill>
          <a:ln w="12700">
            <a:solidFill>
              <a:srgbClr val="1A356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182880"/>
            <a:ext cx="1463040" cy="1463040"/>
          </a:xfrm>
          <a:prstGeom prst="ellipse">
            <a:avLst/>
          </a:prstGeom>
          <a:solidFill>
            <a:srgbClr val="1A3560">
              <a:alpha val="20000"/>
            </a:srgbClr>
          </a:solidFill>
          <a:ln w="12700">
            <a:solidFill>
              <a:srgbClr val="1A356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-182880"/>
            <a:ext cx="1463040" cy="1463040"/>
          </a:xfrm>
          <a:prstGeom prst="ellipse">
            <a:avLst/>
          </a:prstGeom>
          <a:solidFill>
            <a:srgbClr val="1A3560">
              <a:alpha val="20000"/>
            </a:srgbClr>
          </a:solidFill>
          <a:ln w="12700">
            <a:solidFill>
              <a:srgbClr val="1A356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-182880"/>
            <a:ext cx="1463040" cy="1463040"/>
          </a:xfrm>
          <a:prstGeom prst="ellipse">
            <a:avLst/>
          </a:prstGeom>
          <a:solidFill>
            <a:srgbClr val="1A3560">
              <a:alpha val="20000"/>
            </a:srgbClr>
          </a:solidFill>
          <a:ln w="12700">
            <a:solidFill>
              <a:srgbClr val="1A356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-182880"/>
            <a:ext cx="1463040" cy="1463040"/>
          </a:xfrm>
          <a:prstGeom prst="ellipse">
            <a:avLst/>
          </a:prstGeom>
          <a:solidFill>
            <a:srgbClr val="1A3560">
              <a:alpha val="20000"/>
            </a:srgbClr>
          </a:solidFill>
          <a:ln w="12700">
            <a:solidFill>
              <a:srgbClr val="1A356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417320"/>
            <a:ext cx="9144000" cy="3657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Trapped in a Low Dimension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D0ED"/>
                </a:solidFill>
              </a:rPr>
              <a:t>Decoding Visual Stimulus Identity from V1 Population Activity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D9E"/>
                </a:solidFill>
              </a:rPr>
              <a:t>MICrONS Dataset — Session 9_4  |  Two-Photon Calcium Imaging  |  Primary Visual Cortex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828800" cy="1097280"/>
          </a:xfrm>
          <a:prstGeom prst="rect">
            <a:avLst/>
          </a:prstGeom>
          <a:solidFill>
            <a:srgbClr val="122040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D4"/>
                </a:solidFill>
              </a:rPr>
              <a:t>579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V1 excitatory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neurons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743200"/>
            <a:ext cx="1828800" cy="1097280"/>
          </a:xfrm>
          <a:prstGeom prst="rect">
            <a:avLst/>
          </a:prstGeom>
          <a:solidFill>
            <a:srgbClr val="122040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D4"/>
                </a:solidFill>
              </a:rPr>
              <a:t>280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3310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unique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stimuli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828800" cy="1097280"/>
          </a:xfrm>
          <a:prstGeom prst="rect">
            <a:avLst/>
          </a:prstGeom>
          <a:solidFill>
            <a:srgbClr val="122040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D4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63440" y="3310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stimulus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categories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2743200"/>
            <a:ext cx="1828800" cy="1097280"/>
          </a:xfrm>
          <a:prstGeom prst="rect">
            <a:avLst/>
          </a:prstGeom>
          <a:solidFill>
            <a:srgbClr val="122040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D4"/>
                </a:solidFill>
              </a:rPr>
              <a:t>~7,500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3310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temporal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0ED"/>
                </a:solidFill>
              </a:rPr>
              <a:t>bins (Part II)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06070"/>
                </a:solidFill>
              </a:rPr>
              <a:t>Neuroscience Project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Introduction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Why decode stimulus identity from V1?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Visual Cortex as a Decoder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Primary visual cortex (V1) is the first cortical stage of visual processing — it transforms retinal input into a neural population code that downstream areas read out.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A central question in systems neuroscience is whether and how population activity encodes stimulus identity — not just orientation or contrast, but the coarse category of what the animal is seeing.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Two-photon calcium imaging (MICrONS dataset) lets us record hundreds of genetically identified neurons simultaneously with single-cell resolution, an approach directly connected to population coding frameworks covered in the course.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</a:rPr>
              <a:t>Dimensionality reduction (PCA, t-SNE, UMAP) and contrastive learning (CEBRA) are modern tools for visualising and decoding high-dimensional neural manifolds — core topics in computational neuroscience.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822960"/>
            <a:ext cx="393192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3D anatomical positions of 728 proofreaded V1 excitatory neurons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coloured by cortical layer (L1–L6) — MICrONS v1718.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5994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5FA8"/>
                </a:solidFill>
              </a:rPr>
              <a:t>Course links: population coding · neural manifolds · dimensionality reduction · decoding theory · calcium imaging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Research Questions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Three guiding hypotheses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8321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85800"/>
            <a:ext cx="73152" cy="126187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58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5FA8"/>
                </a:solidFill>
              </a:rPr>
              <a:t>Q1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7772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Stimulus Category Decoding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Can the coarse category of a visual stimulus (natural movie clip, Monet noise, full-field grating) be reliably decoded from the mean population response of ~579 proofreaded V1 excitatory neurons — above and beyond a trial-level shuffle baseline?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8321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75688"/>
            <a:ext cx="73152" cy="12618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9FD4"/>
                </a:solidFill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1671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Role of Temporal Structure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34440" y="2532888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Does retaining the temporal structure within each trial — treating every 5-frame bin as an independent observation (~7,500 bins) rather than averaging across time — improve decoding performance and allow richer manifold visualisation?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465576"/>
            <a:ext cx="8321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465576"/>
            <a:ext cx="73152" cy="1261872"/>
          </a:xfrm>
          <a:prstGeom prst="rect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38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A97A"/>
                </a:solidFill>
              </a:rPr>
              <a:t>Q3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Layer-Specific Coding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3922776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Does the primary thalamo-cortical input layer L4 carry a stronger stimulus-category signal than the associative layer L2/3, and does either layer outperform the full-population decoder under both trial-averaged and per-bin protocols?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Methodology — Dataset &amp; Preprocessing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MICrONS Two-Photon Calcium Imaging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A2B3C"/>
                </a:solidFill>
              </a:rPr>
              <a:t>MICrONS public dataset (v1718)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2B3C"/>
                </a:solidFill>
              </a:rPr>
              <a:t>Session 9_4  ·  Layer 2/3–6 of primary visual cortex (V1)
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A2B3C"/>
                </a:solidFill>
              </a:rPr>
              <a:t>Neuron selection: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2B3C"/>
                </a:solidFill>
              </a:rPr>
              <a:t>V1-only  ·  proofread axons (ax_clean)  ·  matched functional tuning  ·  excitatory only → 579 trusted neurons
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A2B3C"/>
                </a:solidFill>
              </a:rPr>
              <a:t>Stimulus set: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2B3C"/>
                </a:solidFill>
              </a:rPr>
              <a:t>280 unique stimuli across 464 trials — natural movie clips (240), Monet2 noise (20), Trippy gratings (20)
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A2B3C"/>
                </a:solidFill>
              </a:rPr>
              <a:t>Preprocessing pipeline: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2B3C"/>
                </a:solidFill>
              </a:rPr>
              <a:t>① Remove neurons with &gt;10% NaN  ② Impute remaining NaNs with column means  ③ Drop constant-response stimuli  ④ StandardScaler (zero mean, unit variance)  ⑤ Class-balanced subsample (20 per class)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11480" y="4069080"/>
            <a:ext cx="1645920" cy="868680"/>
          </a:xfrm>
          <a:prstGeom prst="rect">
            <a:avLst/>
          </a:prstGeom>
          <a:solidFill>
            <a:srgbClr val="F0F5FA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14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FA8"/>
                </a:solidFill>
              </a:rPr>
              <a:t>579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neurons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(V1 excit.)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4069080"/>
            <a:ext cx="1645920" cy="868680"/>
          </a:xfrm>
          <a:prstGeom prst="rect">
            <a:avLst/>
          </a:prstGeom>
          <a:solidFill>
            <a:srgbClr val="F0F5FA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4114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FA8"/>
                </a:solidFill>
              </a:rPr>
              <a:t>280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stimuli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86200" y="4069080"/>
            <a:ext cx="1645920" cy="868680"/>
          </a:xfrm>
          <a:prstGeom prst="rect">
            <a:avLst/>
          </a:prstGeom>
          <a:solidFill>
            <a:srgbClr val="F0F5FA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4114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FA8"/>
                </a:solidFill>
              </a:rPr>
              <a:t>464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86200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total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685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Neuron Layer Distribution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892040" y="987552"/>
          <a:ext cx="38404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892040" y="31821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Layer L4 is the primary thalamo-cortical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input; L2/3 is the main downstream associative layer.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89204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Stimulus Category Distribution</a:t>
            </a:r>
            <a:endParaRPr lang="en-US" sz="10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4892040" y="4005072"/>
          <a:ext cx="3840480" cy="877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Methodology — Analysis Pipeline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Two-phase investigation: trial-averaged vs. per-bin temporal decoding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1480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4114800" cy="365760"/>
          </a:xfrm>
          <a:prstGeom prst="rect">
            <a:avLst/>
          </a:prstGeom>
          <a:solidFill>
            <a:srgbClr val="1A5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 I — Trial-Averaged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114800" cy="36576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 I — Trial-Averaged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143000"/>
            <a:ext cx="292608" cy="29260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①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8096" y="1143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Average all trial repetitions &amp; all frames per unique stimulus hash → 280 × 579 response matrix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837944"/>
            <a:ext cx="292608" cy="29260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②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8096" y="183794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Apply PCA, t-SNE (perp 15/30/50), UMAP (nn 5/15/50), CEBRA on 2D embeddings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32888"/>
            <a:ext cx="292608" cy="29260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③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" y="25328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StratifiedKFold(n=5) logistic regression on 2D coords — balanced accuracy &amp; macro F1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227832"/>
            <a:ext cx="292608" cy="29260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④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" y="3227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Shuffle control: permute stimulus labels 100× at stimulus level → empirical null (p-value)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922776"/>
            <a:ext cx="292608" cy="29260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⑤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39227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Layer sub-analysis: repeat pipeline for L4 (257 neurons) and L2/3 (220 neurons) separately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526280"/>
            <a:ext cx="3794760" cy="274320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26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05252"/>
                </a:solidFill>
              </a:rPr>
              <a:t>⚠ Leakage: UMAP/t-SNE fitted on all data before CV split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658368"/>
            <a:ext cx="411480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658368"/>
            <a:ext cx="4114800" cy="365760"/>
          </a:xfrm>
          <a:prstGeom prst="rect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658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 II — Per-Bin Temporal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1143000"/>
            <a:ext cx="292608" cy="292608"/>
          </a:xfrm>
          <a:prstGeom prst="ellipse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①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48656" y="1143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Segment each trial into 5-frame bins → ~7,520 samples (bin × neurons matrix)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1837944"/>
            <a:ext cx="292608" cy="292608"/>
          </a:xfrm>
          <a:prstGeom prst="ellipse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②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48656" y="183794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GroupKFold(n=5, groups=trial_id) — test bins never share a trial with training bins (no leakage)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532888"/>
            <a:ext cx="292608" cy="292608"/>
          </a:xfrm>
          <a:prstGeom prst="ellipse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③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48656" y="25328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Inside each fold: impute → scale → PCA  then evaluate PCA-2D, PCA-50D, UMAP-2D, CEBRA-8D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227832"/>
            <a:ext cx="292608" cy="292608"/>
          </a:xfrm>
          <a:prstGeom prst="ellipse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④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48656" y="3227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Shuffle control: permute labels at the trial level (all bins of a trial get same shuffled label)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3922776"/>
            <a:ext cx="292608" cy="292608"/>
          </a:xfrm>
          <a:prstGeom prst="ellipse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⑤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48656" y="39227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Layer sub-analysis: repeat for L2/3 (220), L4 (257), L5 (89) separately with CEBRA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4526280"/>
            <a:ext cx="379476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B7DF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526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2A97A"/>
                </a:solidFill>
              </a:rPr>
              <a:t>✓ Fully leakage-free: all DR fitted inside CV fold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07408" y="2377440"/>
            <a:ext cx="329184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22402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fixes →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Results — Part I: Dimensionality Reduction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Trial-averaged embeddings coloured by stimulus category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48640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48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PCA · t-SNE (perp=30) · UMAP (nn=15) · CEBRA — 2D embeddings on 280 trial-averaged stimuli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395728"/>
            <a:ext cx="548640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685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Classification Performance (Balanced Acc.)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05840"/>
          <a:ext cx="2926080" cy="1828800"/>
        </p:xfrm>
        <a:graphic>
          <a:graphicData uri="http://schemas.openxmlformats.org/drawingml/2006/table">
            <a:tbl>
              <a:tblPr/>
              <a:tblGrid>
                <a:gridCol w="975360"/>
                <a:gridCol w="975360"/>
                <a:gridCol w="975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Bal. Acc.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Chance (1/3)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0.333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0.465 ***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0.364 ***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t-SNE (p=30)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0.401 ***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0.339 ***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UMAP (nn=15)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0.515 ***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0.471 ***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CEBRA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0.274  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0.185  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943600" y="2944368"/>
            <a:ext cx="2926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43600" y="2944368"/>
            <a:ext cx="64008" cy="60350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080760" y="29626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FA8"/>
                </a:solidFill>
              </a:rPr>
              <a:t>UMAP leads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080760" y="316382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UMAP (nn=15) achieves the highest balanced accuracy of 0.515 — significantly above the 0.333 chance level (p &lt; 0.001).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943600" y="3621024"/>
            <a:ext cx="2926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0" y="3621024"/>
            <a:ext cx="64008" cy="60350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080760" y="363931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</a:rPr>
              <a:t>CEBRA fails here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080760" y="384048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With only 100 samples, CEBRA finds no structure (0.274, ns). It needs temporal data — fixed in Part II.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943600" y="4297680"/>
            <a:ext cx="2926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43600" y="4297680"/>
            <a:ext cx="64008" cy="60350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080760" y="431596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PCA participation ratio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080760" y="451713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Effective dimensionality = 47.2 PCs. 82 PCs needed for 80% variance — V1 activity lives in a high-dimensional space.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Results — Shuffle Controls &amp; Layer Analysis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Significance testing and cortical layer breakdown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Part I — Shuffle Control Results (100 permutations)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5303520" cy="2011680"/>
        </p:xfrm>
        <a:graphic>
          <a:graphicData uri="http://schemas.openxmlformats.org/drawingml/2006/table">
            <a:tbl>
              <a:tblPr/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Null mean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PCA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Bal. Acc.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0.465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0.335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A97A"/>
                          </a:solidFill>
                        </a:rPr>
                        <a:t>***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PCA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Macro F1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0.364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0.232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A97A"/>
                          </a:solidFill>
                        </a:rPr>
                        <a:t>***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t-SNE (p=30)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Bal. Acc.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0.401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0.345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A97A"/>
                          </a:solidFill>
                        </a:rPr>
                        <a:t>***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UMAP (nn=15)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Bal. Acc.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0.515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0.320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A97A"/>
                          </a:solidFill>
                        </a:rPr>
                        <a:t>***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UMAP (nn=15)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Macro F1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0.471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0.215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A97A"/>
                          </a:solidFill>
                        </a:rPr>
                        <a:t>***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CEBRA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Bal. Acc.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0.274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0.330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05252"/>
                          </a:solidFill>
                        </a:rPr>
                        <a:t>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CEBRA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Macro F1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0.185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B3C"/>
                          </a:solidFill>
                        </a:rPr>
                        <a:t>0.225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05252"/>
                          </a:solidFill>
                        </a:rPr>
                        <a:t>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29992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*** p &lt; 0.001 one-sided t-test vs shuffle null  ·  ns = not significant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3218688"/>
            <a:ext cx="5303520" cy="1645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48463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Three-way: All neurons vs L4 vs L2/3 — Part I balanced accuracy and F1 by method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806440" y="658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Layer-Specific Findings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06440" y="987552"/>
          <a:ext cx="3108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5806440" y="3429000"/>
            <a:ext cx="3108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806440" y="3429000"/>
            <a:ext cx="64008" cy="71323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943600" y="344728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FA8"/>
                </a:solidFill>
              </a:rPr>
              <a:t>L4 &gt; All neurons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943600" y="367588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L4 (primary thalamic input) outperforms full population on PCA (+5.4%) and UMAP (+4.3%), consistent with L4 carrying a sharper visual drive.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806440" y="4233672"/>
            <a:ext cx="3108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806440" y="4233672"/>
            <a:ext cx="64008" cy="71323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0" y="425196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L2/3 mixed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943600" y="448056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L2/3 matches L4 on PCA F1 but falls behind on UMAP — higher recurrent connectivity may spread information across dimensions differently.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Results — Part II: Temporal Binning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GroupKFold cross-validation on ~7,500 per-bin samples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8503920" cy="658368"/>
          </a:xfrm>
          <a:prstGeom prst="rect">
            <a:avLst/>
          </a:prstGeom>
          <a:solidFill>
            <a:srgbClr val="EAF4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FA8"/>
                </a:solidFill>
              </a:rPr>
              <a:t>PCA-50D achieves 81.3% balanced 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9509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B3C"/>
                </a:solidFill>
              </a:rPr>
              <a:t>up from 46.5% in Part I — temporal binning provides ~7,500 samples and leakage-free GroupKFold evaluation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35024"/>
            <a:ext cx="530352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2461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Confusion matrices for PCA-2D, PCA-50D, UMAP-2D, CEBRA-8D — GroupKFold per trial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3456432"/>
            <a:ext cx="2560320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Part II shuffle null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(trial-level permutation)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17520" y="3456432"/>
            <a:ext cx="2606040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17520" y="4892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Part II PCA scree — effective dim 212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5806440" y="658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Part I vs Part II: Balanced Accuracy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806440" y="960120"/>
          <a:ext cx="3108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/>
          <p:nvPr/>
        </p:nvSpPr>
        <p:spPr>
          <a:xfrm>
            <a:off x="5806440" y="3273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Note: PCA-50D (main metric) achieves 0.813 in Part II;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PCA-2D shown for fair comparison vs Part I 2D results.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806440" y="371246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Part II — GroupKFold Results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977640"/>
          <a:ext cx="3108960" cy="100584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Bal. Acc.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Chance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64748B"/>
                          </a:solidFill>
                        </a:rPr>
                        <a:t>0.333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PCA-2D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0.457 ± 0.038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0.378 ± 0.028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5FA8"/>
                          </a:solidFill>
                        </a:rPr>
                        <a:t>PCA-50D 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FA8"/>
                          </a:solidFill>
                        </a:rPr>
                        <a:t>0.813 ± 0.021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FA8"/>
                          </a:solidFill>
                        </a:rPr>
                        <a:t>0.740 ± 0.021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UMAP-2D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0.385 ± 0.033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0.350 ± 0.030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Results — Layer-Specific Analysis (Part II)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D0ED"/>
                </a:solidFill>
              </a:rPr>
              <a:t>Per-bin GroupKFold decoding restricted to individual cortical layers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03504"/>
            <a:ext cx="85953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797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PCA-50D, UMAP-2D, CEBRA-8D — GroupKFold balanced accuracy and F1 broken down by cortical layer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2004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Balanced Accuracy by Layer — PCA-50D (Part II)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3291840"/>
          <a:ext cx="45720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4782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* Approximate values estimated from layer analysis results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5074920" y="3017520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3017520"/>
            <a:ext cx="64008" cy="59436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12080" y="303580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FA8"/>
                </a:solidFill>
              </a:rPr>
              <a:t>L4 leads across layers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212080" y="32461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L4 (primary thalamic input, 257 neurons) achieves the highest balanced accuracy (~83%) in per-bin decoding — consistent with its role as the gateway for visual signals into cortex.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074920" y="3694176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3694176"/>
            <a:ext cx="64008" cy="59436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12080" y="371246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L5 punches above weight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212080" y="392277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L5 (only 89 neurons) performs surprisingly well (~79%), suggesting it carries a more concentrated or efficient stimulus-category representation.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074920" y="437083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4370832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12080" y="438912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L2/3 lower (~76%)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12080" y="45994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B3C"/>
                </a:solidFill>
              </a:rPr>
              <a:t>The associative layer L2/3 (220 neurons) falls behind despite more cells — its richer recurrent connectivity may distribute information in a way that makes simple linear decoding harder.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274F"/>
          </a:solidFill>
          <a:ln w="12700">
            <a:solidFill>
              <a:srgbClr val="12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Discussion &amp; Conclusions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30352"/>
            <a:ext cx="9144000" cy="3657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D0ED"/>
                </a:solidFill>
              </a:rPr>
              <a:t>Research Questions — Answered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107899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078992"/>
          </a:xfrm>
          <a:prstGeom prst="rect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97A"/>
                </a:solidFill>
              </a:rPr>
              <a:t>Q1: Can V1 population decode stimulus category?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</a:rPr>
              <a:t>Yes — PCA and UMAP are significantly above chance (p &lt; 0.001). However, the modest effect sizes (46-52% balanced acc in Part I; up to 81% in Part II with 50 PCs) suggest that coarse category is decodable but not trivially so from mean-rate V1.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4114800" cy="107899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76272"/>
            <a:ext cx="64008" cy="1078992"/>
          </a:xfrm>
          <a:prstGeom prst="rect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97A"/>
                </a:solidFill>
              </a:rPr>
              <a:t>Q2: Does temporal structure improve decoding?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</a:rPr>
              <a:t>Strongly yes. Temporal binning increased sample size from ~100 to ~7,500, enabling PCA-50D to reach 81.3% balanced accuracy — a +35% gain. It also enabled CEBRA to work at all, and eliminated leakage via GroupKFold.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346704"/>
            <a:ext cx="4114800" cy="107899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46704"/>
            <a:ext cx="64008" cy="1078992"/>
          </a:xfrm>
          <a:prstGeom prst="rect">
            <a:avLst/>
          </a:prstGeom>
          <a:solidFill>
            <a:srgbClr val="22A97A"/>
          </a:solidFill>
          <a:ln w="12700">
            <a:solidFill>
              <a:srgbClr val="22A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64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97A"/>
                </a:solidFill>
              </a:rPr>
              <a:t>Q3: Do cortical layers differ in stimulus coding?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</a:rPr>
              <a:t>Yes. L4 consistently outperforms L2/3 and all-neuron baselines, consistent with thalamo-cortical input being the sharpest driver of stimulus category. L5 shows unexpectedly strong performance with fewer neurons.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D0ED"/>
                </a:solidFill>
              </a:rPr>
              <a:t>Limitations &amp; Future Directions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4114800" cy="71323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024128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⚠ Sample imbalance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8032" y="125272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CCE0"/>
                </a:solidFill>
              </a:rPr>
              <a:t>Clips dominate (240/280 stimuli). Even with class-balanced subsamples, the natural distribution inflates majority-class accuracy — future work should oversample or use stratified generation.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1810512"/>
            <a:ext cx="4114800" cy="71323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82880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⚠ Calcium imaging resolution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8032" y="205740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CCE0"/>
                </a:solidFill>
              </a:rPr>
              <a:t>ΔF/F is a slow proxy for spiking. GCaMP6s has ~300 ms decay, blurring rapid neural dynamics. Fine temporal patterns within 5-frame bins are partially washed out.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615184"/>
            <a:ext cx="4114800" cy="71323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63347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⚠ Linear classifier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286207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CCE0"/>
                </a:solidFill>
              </a:rPr>
              <a:t>Logistic regression can only exploit linearly separable structure. Non-linear classifiers (SVM-RBF, MLP) might reveal additional decodable information in the neural manifold.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3419856"/>
            <a:ext cx="4114800" cy="71323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438144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→ Within-category decoding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366674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CCE0"/>
                </a:solidFill>
              </a:rPr>
              <a:t>Next step: decode specific clip IDs or grating orientations rather than coarse category. This would test whether V1 carries fine identity information, not just category.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4224528"/>
            <a:ext cx="4114800" cy="713232"/>
          </a:xfrm>
          <a:prstGeom prst="rect">
            <a:avLst/>
          </a:prstGeom>
          <a:solidFill>
            <a:srgbClr val="0E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242816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→ Fine temporal dynamics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447141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CCE0"/>
                </a:solidFill>
              </a:rPr>
              <a:t>Reduce bin size to 1-2 frames and use recurrent decoders to exploit rapid V1 temporal dynamics that 5-frame averaging discards.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6070"/>
                </a:solidFill>
              </a:rPr>
              <a:t>Seed: 42  ·  MICrONS v1718  ·  Session 9_4  ·  Full reproducible analysis in NEW_OUTPUT2.ipynb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Trapped in a Low Dimension — V1 Population Decoding</dc:title>
  <dc:subject>PptxGenJS Presentation</dc:subject>
  <dc:creator>PptxGenJS</dc:creator>
  <cp:lastModifiedBy>PptxGenJS</cp:lastModifiedBy>
  <cp:revision>1</cp:revision>
  <dcterms:created xsi:type="dcterms:W3CDTF">2026-05-12T16:15:06Z</dcterms:created>
  <dcterms:modified xsi:type="dcterms:W3CDTF">2026-05-12T16:15:06Z</dcterms:modified>
</cp:coreProperties>
</file>