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5.xml" ContentType="application/vnd.openxmlformats-officedocument.drawingml.chart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notesSlides/notesSlide17.xml" ContentType="application/vnd.openxmlformats-officedocument.presentationml.notesSlide+xml"/>
  <Override PartName="/ppt/charts/chart7.xml" ContentType="application/vnd.openxmlformats-officedocument.drawingml.char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6" r:id="rId2"/>
    <p:sldId id="267" r:id="rId3"/>
    <p:sldId id="269" r:id="rId4"/>
    <p:sldId id="260" r:id="rId5"/>
    <p:sldId id="271" r:id="rId6"/>
    <p:sldId id="272" r:id="rId7"/>
    <p:sldId id="273" r:id="rId8"/>
    <p:sldId id="274" r:id="rId9"/>
    <p:sldId id="268" r:id="rId10"/>
    <p:sldId id="256" r:id="rId11"/>
    <p:sldId id="257" r:id="rId12"/>
    <p:sldId id="258" r:id="rId13"/>
    <p:sldId id="259" r:id="rId14"/>
    <p:sldId id="270" r:id="rId15"/>
    <p:sldId id="261" r:id="rId16"/>
    <p:sldId id="262" r:id="rId17"/>
    <p:sldId id="263" r:id="rId18"/>
    <p:sldId id="264" r:id="rId19"/>
    <p:sldId id="265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5706" autoAdjust="0"/>
  </p:normalViewPr>
  <p:slideViewPr>
    <p:cSldViewPr snapToGrid="0" snapToObjects="1">
      <p:cViewPr varScale="1">
        <p:scale>
          <a:sx n="118" d="100"/>
          <a:sy n="118" d="100"/>
        </p:scale>
        <p:origin x="278" y="9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Neurons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8E3-4C5D-851D-E5C2111192A6}"/>
              </c:ext>
            </c:extLst>
          </c:dPt>
          <c:dPt>
            <c:idx val="1"/>
            <c:invertIfNegative val="0"/>
            <c:bubble3D val="0"/>
            <c:spPr>
              <a:solidFill>
                <a:srgbClr val="2978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8E3-4C5D-851D-E5C2111192A6}"/>
              </c:ext>
            </c:extLst>
          </c:dPt>
          <c:dPt>
            <c:idx val="2"/>
            <c:invertIfNegative val="0"/>
            <c:bubble3D val="0"/>
            <c:spPr>
              <a:solidFill>
                <a:srgbClr val="5B9BD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8E3-4C5D-851D-E5C2111192A6}"/>
              </c:ext>
            </c:extLst>
          </c:dPt>
          <c:dPt>
            <c:idx val="3"/>
            <c:invertIfNegative val="0"/>
            <c:bubble3D val="0"/>
            <c:spPr>
              <a:solidFill>
                <a:srgbClr val="95BD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8E3-4C5D-851D-E5C2111192A6}"/>
              </c:ext>
            </c:extLst>
          </c:dPt>
          <c:dPt>
            <c:idx val="4"/>
            <c:invertIfNegative val="0"/>
            <c:bubble3D val="0"/>
            <c:spPr>
              <a:solidFill>
                <a:srgbClr val="C5D9E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8E3-4C5D-851D-E5C2111192A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L1</c:v>
                </c:pt>
                <c:pt idx="1">
                  <c:v>L2/3</c:v>
                </c:pt>
                <c:pt idx="2">
                  <c:v>L4</c:v>
                </c:pt>
                <c:pt idx="3">
                  <c:v>L5</c:v>
                </c:pt>
                <c:pt idx="4">
                  <c:v>L6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220</c:v>
                </c:pt>
                <c:pt idx="2">
                  <c:v>257</c:v>
                </c:pt>
                <c:pt idx="3">
                  <c:v>89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8E3-4C5D-851D-E5C2111192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Stimuli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530-488B-BFDD-9EE455ED03FE}"/>
              </c:ext>
            </c:extLst>
          </c:dPt>
          <c:dPt>
            <c:idx val="1"/>
            <c:invertIfNegative val="0"/>
            <c:bubble3D val="0"/>
            <c:spPr>
              <a:solidFill>
                <a:srgbClr val="4A9F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530-488B-BFDD-9EE455ED03FE}"/>
              </c:ext>
            </c:extLst>
          </c:dPt>
          <c:dPt>
            <c:idx val="2"/>
            <c:invertIfNegative val="0"/>
            <c:bubble3D val="0"/>
            <c:spPr>
              <a:solidFill>
                <a:srgbClr val="22A9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530-488B-BFDD-9EE455ED03F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Clip</c:v>
                </c:pt>
                <c:pt idx="1">
                  <c:v>Monet2</c:v>
                </c:pt>
                <c:pt idx="2">
                  <c:v>Trippy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30-488B-BFDD-9EE455ED03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Neurons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8E3-4C5D-851D-E5C2111192A6}"/>
              </c:ext>
            </c:extLst>
          </c:dPt>
          <c:dPt>
            <c:idx val="1"/>
            <c:invertIfNegative val="0"/>
            <c:bubble3D val="0"/>
            <c:spPr>
              <a:solidFill>
                <a:srgbClr val="2978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8E3-4C5D-851D-E5C2111192A6}"/>
              </c:ext>
            </c:extLst>
          </c:dPt>
          <c:dPt>
            <c:idx val="2"/>
            <c:invertIfNegative val="0"/>
            <c:bubble3D val="0"/>
            <c:spPr>
              <a:solidFill>
                <a:srgbClr val="5B9BD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8E3-4C5D-851D-E5C2111192A6}"/>
              </c:ext>
            </c:extLst>
          </c:dPt>
          <c:dPt>
            <c:idx val="3"/>
            <c:invertIfNegative val="0"/>
            <c:bubble3D val="0"/>
            <c:spPr>
              <a:solidFill>
                <a:srgbClr val="95BD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8E3-4C5D-851D-E5C2111192A6}"/>
              </c:ext>
            </c:extLst>
          </c:dPt>
          <c:dPt>
            <c:idx val="4"/>
            <c:invertIfNegative val="0"/>
            <c:bubble3D val="0"/>
            <c:spPr>
              <a:solidFill>
                <a:srgbClr val="C5D9E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8E3-4C5D-851D-E5C2111192A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L4</c:v>
                </c:pt>
                <c:pt idx="1">
                  <c:v>L2/3</c:v>
                </c:pt>
                <c:pt idx="2">
                  <c:v>L5</c:v>
                </c:pt>
                <c:pt idx="3">
                  <c:v>L6</c:v>
                </c:pt>
                <c:pt idx="4">
                  <c:v>L1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</c:v>
                </c:pt>
                <c:pt idx="1">
                  <c:v>220</c:v>
                </c:pt>
                <c:pt idx="2">
                  <c:v>89</c:v>
                </c:pt>
                <c:pt idx="3">
                  <c:v>12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8E3-4C5D-851D-E5C2111192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Stimuli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530-488B-BFDD-9EE455ED03FE}"/>
              </c:ext>
            </c:extLst>
          </c:dPt>
          <c:dPt>
            <c:idx val="1"/>
            <c:invertIfNegative val="0"/>
            <c:bubble3D val="0"/>
            <c:spPr>
              <a:solidFill>
                <a:srgbClr val="4A9F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530-488B-BFDD-9EE455ED03FE}"/>
              </c:ext>
            </c:extLst>
          </c:dPt>
          <c:dPt>
            <c:idx val="2"/>
            <c:invertIfNegative val="0"/>
            <c:bubble3D val="0"/>
            <c:spPr>
              <a:solidFill>
                <a:srgbClr val="22A9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530-488B-BFDD-9EE455ED03F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Clips</c:v>
                </c:pt>
                <c:pt idx="1">
                  <c:v>Monet2</c:v>
                </c:pt>
                <c:pt idx="2">
                  <c:v>Trippy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30-488B-BFDD-9EE455ED03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PCA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All neurons</c:v>
                </c:pt>
                <c:pt idx="1">
                  <c:v>L4</c:v>
                </c:pt>
                <c:pt idx="2">
                  <c:v>L2/3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0.46500000000000002</c:v>
                </c:pt>
                <c:pt idx="1">
                  <c:v>0.51900000000000002</c:v>
                </c:pt>
                <c:pt idx="2">
                  <c:v>0.499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BE-4294-88AA-B3BDF4EA229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UMAP</c:v>
                </c:pt>
              </c:strCache>
            </c:strRef>
          </c:tx>
          <c:spPr>
            <a:solidFill>
              <a:srgbClr val="4A9FD4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All neurons</c:v>
                </c:pt>
                <c:pt idx="1">
                  <c:v>L4</c:v>
                </c:pt>
                <c:pt idx="2">
                  <c:v>L2/3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0.51500000000000001</c:v>
                </c:pt>
                <c:pt idx="1">
                  <c:v>0.55800000000000005</c:v>
                </c:pt>
                <c:pt idx="2">
                  <c:v>0.432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BE-4294-88AA-B3BDF4EA229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CEBRA</c:v>
                </c:pt>
              </c:strCache>
            </c:strRef>
          </c:tx>
          <c:spPr>
            <a:solidFill>
              <a:srgbClr val="22A97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All neurons</c:v>
                </c:pt>
                <c:pt idx="1">
                  <c:v>L4</c:v>
                </c:pt>
                <c:pt idx="2">
                  <c:v>L2/3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0.27400000000000002</c:v>
                </c:pt>
                <c:pt idx="1">
                  <c:v>0.4</c:v>
                </c:pt>
                <c:pt idx="2">
                  <c:v>0.35799999999999998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3BE-4294-88AA-B3BDF4EA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I (trial-avg)</c:v>
                </c:pt>
              </c:strCache>
            </c:strRef>
          </c:tx>
          <c:spPr>
            <a:solidFill>
              <a:srgbClr val="B0C8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PCA-2D</c:v>
                </c:pt>
                <c:pt idx="1">
                  <c:v>UMAP-2D</c:v>
                </c:pt>
                <c:pt idx="2">
                  <c:v>CEBRA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0.46500000000000002</c:v>
                </c:pt>
                <c:pt idx="1">
                  <c:v>0.51500000000000001</c:v>
                </c:pt>
                <c:pt idx="2">
                  <c:v>0.27400000000000002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D-4567-BF3F-FCC348D185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 II (per-bin)</c:v>
                </c:pt>
              </c:strCache>
            </c:strRef>
          </c:tx>
          <c:spPr>
            <a:solidFill>
              <a:srgbClr val="1A5F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PCA-2D</c:v>
                </c:pt>
                <c:pt idx="1">
                  <c:v>UMAP-2D</c:v>
                </c:pt>
                <c:pt idx="2">
                  <c:v>CEBRA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0.45700000000000002</c:v>
                </c:pt>
                <c:pt idx="1">
                  <c:v>0.38500000000000001</c:v>
                </c:pt>
                <c:pt idx="2">
                  <c:v>0.81200000000000006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D-4567-BF3F-FCC348D185F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Bal. Acc.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5E6-43EC-8BEF-9F0F21E679C7}"/>
              </c:ext>
            </c:extLst>
          </c:dPt>
          <c:dPt>
            <c:idx val="1"/>
            <c:invertIfNegative val="0"/>
            <c:bubble3D val="0"/>
            <c:spPr>
              <a:solidFill>
                <a:srgbClr val="1A5F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5E6-43EC-8BEF-9F0F21E679C7}"/>
              </c:ext>
            </c:extLst>
          </c:dPt>
          <c:dPt>
            <c:idx val="2"/>
            <c:invertIfNegative val="0"/>
            <c:bubble3D val="0"/>
            <c:spPr>
              <a:solidFill>
                <a:srgbClr val="4A9F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5E6-43EC-8BEF-9F0F21E679C7}"/>
              </c:ext>
            </c:extLst>
          </c:dPt>
          <c:dPt>
            <c:idx val="3"/>
            <c:invertIfNegative val="0"/>
            <c:bubble3D val="0"/>
            <c:spPr>
              <a:solidFill>
                <a:srgbClr val="A8D0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5E6-43EC-8BEF-9F0F21E679C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All (579)</c:v>
                </c:pt>
                <c:pt idx="1">
                  <c:v>L4 (257)</c:v>
                </c:pt>
                <c:pt idx="2">
                  <c:v>L2/3 (220)</c:v>
                </c:pt>
                <c:pt idx="3">
                  <c:v>L5 (89)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0.81299999999999994</c:v>
                </c:pt>
                <c:pt idx="1">
                  <c:v>0.83199999999999996</c:v>
                </c:pt>
                <c:pt idx="2">
                  <c:v>0.75800000000000001</c:v>
                </c:pt>
                <c:pt idx="3">
                  <c:v>0.79100000000000004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5E6-43EC-8BEF-9F0F21E679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356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085F-E550-9EC1-F0BA-81FACBCC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982A7-EA06-6FFA-F694-B25467CF6F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B6D4B-0359-37DD-E8AF-F8119B49A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93AB5-5502-3589-FAEE-4067EBBEB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08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277F5-2A29-0D7A-BE07-0F66D9DE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E34DB-99A2-EF1F-FB05-6B675C3C0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DDAC7-B5F5-4608-9754-0FD876A06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B5B1E-5E4F-0BEB-E808-DF905CCD8B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692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34AB-AB29-8AEE-3AC0-00A658157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D04C7-8625-2698-BF4C-DBBF30CA3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D5E850-A3DD-7CC9-53BC-DD66FBF47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434C8-C212-D597-0C23-1666B4707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346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5F025-0C5D-9C0B-EB72-DB59FA389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54A65-A615-3BE5-0557-951B80802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06CB2-2306-2A3D-F3CC-D2AB0360D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0EA42-25AD-B52C-04CB-DC76123577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6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5EDEB-51CE-C827-725B-2B42554F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62FF0-DA8E-FF84-F4CA-9F53CAA5C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FACDB-70B6-D31C-917A-236BB4FE2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F9E7D-5E3B-2355-723A-2A7E5F12BA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878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6AE3-307F-B304-30DF-4D0489B6E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6FB31-E9AE-AF14-A15F-06F025374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65231-AEFB-6918-B0CF-E6FD65D30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4FD03-1E37-FA59-5598-836E3F324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82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D5F-E91A-7077-5E95-DF6D44036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58E80-2530-56D9-95D9-22E427394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C9902-63A6-17B1-567D-B1EA33D1A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687E24-0305-28B7-2E56-012DBAE9DB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02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FDF33-537E-76A3-CBAC-D8EA4F899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E7706-9C26-917C-C954-E8062C05D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3A5DC-0D8E-71BF-B7A2-85CFAFED9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7BEE-EB00-1BF9-6D4C-F5D01094A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4664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B5D4B-E6AC-BCC5-048E-305CA290A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AC5555-703C-8F69-4113-6DC8433CCC6D}"/>
              </a:ext>
            </a:extLst>
          </p:cNvPr>
          <p:cNvSpPr/>
          <p:nvPr/>
        </p:nvSpPr>
        <p:spPr>
          <a:xfrm>
            <a:off x="-27432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8C0315E-B198-C5F3-C42E-299DE1CF16E6}"/>
              </a:ext>
            </a:extLst>
          </p:cNvPr>
          <p:cNvSpPr/>
          <p:nvPr/>
        </p:nvSpPr>
        <p:spPr>
          <a:xfrm>
            <a:off x="146304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DF445E9-621C-2B37-D28E-BF2D110B9B14}"/>
              </a:ext>
            </a:extLst>
          </p:cNvPr>
          <p:cNvSpPr/>
          <p:nvPr/>
        </p:nvSpPr>
        <p:spPr>
          <a:xfrm>
            <a:off x="320040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3088F6-2B05-9C43-852E-FF77E380CD9B}"/>
              </a:ext>
            </a:extLst>
          </p:cNvPr>
          <p:cNvSpPr/>
          <p:nvPr/>
        </p:nvSpPr>
        <p:spPr>
          <a:xfrm>
            <a:off x="493776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AAC4DDC-42F2-8638-12EF-1696547ABA1F}"/>
              </a:ext>
            </a:extLst>
          </p:cNvPr>
          <p:cNvSpPr/>
          <p:nvPr/>
        </p:nvSpPr>
        <p:spPr>
          <a:xfrm>
            <a:off x="667512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F71EC83-ABBB-5198-9309-16EE4833DBA2}"/>
              </a:ext>
            </a:extLst>
          </p:cNvPr>
          <p:cNvSpPr/>
          <p:nvPr/>
        </p:nvSpPr>
        <p:spPr>
          <a:xfrm>
            <a:off x="841248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63E2315-1CCF-E77A-1B73-230F4A3C43AE}"/>
              </a:ext>
            </a:extLst>
          </p:cNvPr>
          <p:cNvSpPr/>
          <p:nvPr/>
        </p:nvSpPr>
        <p:spPr>
          <a:xfrm>
            <a:off x="0" y="1417320"/>
            <a:ext cx="9144000" cy="36576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7A1200-C3A7-DB22-7F40-62CC4735F6C3}"/>
              </a:ext>
            </a:extLst>
          </p:cNvPr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Trapped in a Low Dimension</a:t>
            </a:r>
            <a:endParaRPr lang="en-US" sz="3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474A4BA-421E-1ED1-1ADB-40CBE5CAD8AE}"/>
              </a:ext>
            </a:extLst>
          </p:cNvPr>
          <p:cNvSpPr/>
          <p:nvPr/>
        </p:nvSpPr>
        <p:spPr>
          <a:xfrm>
            <a:off x="548640" y="1463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A8D0ED"/>
                </a:solidFill>
              </a:rPr>
              <a:t>Decoding Visual Stimulus Identity </a:t>
            </a:r>
            <a:r>
              <a:rPr lang="en-US" sz="1600" i="1">
                <a:solidFill>
                  <a:srgbClr val="A8D0ED"/>
                </a:solidFill>
              </a:rPr>
              <a:t>from </a:t>
            </a:r>
            <a:r>
              <a:rPr lang="pl-PL" sz="1600" i="1">
                <a:solidFill>
                  <a:srgbClr val="A8D0ED"/>
                </a:solidFill>
              </a:rPr>
              <a:t>Neuron Activity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B03CE6E-1C7A-2DCE-F2F6-452294D52CAE}"/>
              </a:ext>
            </a:extLst>
          </p:cNvPr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l-PL" sz="950">
                <a:solidFill>
                  <a:srgbClr val="607D9E"/>
                </a:solidFill>
              </a:rPr>
              <a:t>Omar Jallouq, Filip Janczak, Mohammed Aaaqib Khatibi, Dhruv Singh</a:t>
            </a:r>
            <a:endParaRPr lang="en-US" sz="9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56DB8E-7994-EABB-4E51-F86EC33705EE}"/>
              </a:ext>
            </a:extLst>
          </p:cNvPr>
          <p:cNvSpPr txBox="1"/>
          <p:nvPr/>
        </p:nvSpPr>
        <p:spPr>
          <a:xfrm>
            <a:off x="1188720" y="2214465"/>
            <a:ext cx="69494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>
                <a:solidFill>
                  <a:schemeClr val="accent1">
                    <a:lumMod val="40000"/>
                    <a:lumOff val="60000"/>
                  </a:schemeClr>
                </a:solidFill>
              </a:rPr>
              <a:t>Does a low-dimensional representation allow for decoding of the coarse category of visual stimulus from </a:t>
            </a:r>
            <a:r>
              <a:rPr lang="pl-PL" sz="1600" i="1">
                <a:solidFill>
                  <a:schemeClr val="accent1">
                    <a:lumMod val="40000"/>
                    <a:lumOff val="60000"/>
                  </a:schemeClr>
                </a:solidFill>
              </a:rPr>
              <a:t>full-time-averages</a:t>
            </a:r>
            <a:r>
              <a:rPr lang="en-US" sz="1600" i="1">
                <a:solidFill>
                  <a:schemeClr val="accent1">
                    <a:lumMod val="40000"/>
                    <a:lumOff val="60000"/>
                  </a:schemeClr>
                </a:solidFill>
              </a:rPr>
              <a:t> or narrow-bin averages of V1 excitatory neuron responses?</a:t>
            </a:r>
          </a:p>
          <a:p>
            <a:pPr algn="ctr"/>
            <a:endParaRPr lang="en-US" sz="1600" i="1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 algn="ctr"/>
            <a:r>
              <a:rPr lang="en-US" sz="1600" i="1">
                <a:solidFill>
                  <a:schemeClr val="accent1">
                    <a:lumMod val="40000"/>
                    <a:lumOff val="60000"/>
                  </a:schemeClr>
                </a:solidFill>
              </a:rPr>
              <a:t>Does the L4 layer carry a stronger stimulus-category signal than other layers, and does any individual layer outperform the full-population decoder?</a:t>
            </a:r>
          </a:p>
        </p:txBody>
      </p:sp>
    </p:spTree>
    <p:extLst>
      <p:ext uri="{BB962C8B-B14F-4D97-AF65-F5344CB8AC3E}">
        <p14:creationId xmlns:p14="http://schemas.microsoft.com/office/powerpoint/2010/main" val="2418392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828E88-0B27-CB3B-402B-ABD7B0438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F62496-B48A-3AF0-B719-0A419A4867D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8CD744-1A1B-2BF6-5EB5-DDAB54AF8917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Introduction</a:t>
            </a:r>
            <a:endParaRPr lang="en-US" sz="17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1BA63F1-D7C6-EC51-6FC6-6BA171C40C98}"/>
              </a:ext>
            </a:extLst>
          </p:cNvPr>
          <p:cNvSpPr/>
          <p:nvPr/>
        </p:nvSpPr>
        <p:spPr>
          <a:xfrm>
            <a:off x="411480" y="822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300" b="1">
                <a:solidFill>
                  <a:srgbClr val="0A1628"/>
                </a:solidFill>
              </a:rPr>
              <a:t>Decoding from V1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9780CD6-2D4E-84FF-7A74-63C7CD865637}"/>
              </a:ext>
            </a:extLst>
          </p:cNvPr>
          <p:cNvSpPr/>
          <p:nvPr/>
        </p:nvSpPr>
        <p:spPr>
          <a:xfrm>
            <a:off x="411480" y="1207008"/>
            <a:ext cx="4206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pl-PL" sz="1050" b="1">
                <a:solidFill>
                  <a:srgbClr val="1A2B3C"/>
                </a:solidFill>
              </a:rPr>
              <a:t>Decoding from V1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>
                <a:solidFill>
                  <a:srgbClr val="1A2B3C"/>
                </a:solidFill>
              </a:rPr>
              <a:t>Primary </a:t>
            </a:r>
            <a:r>
              <a:rPr lang="en-US" sz="1050" dirty="0">
                <a:solidFill>
                  <a:srgbClr val="1A2B3C"/>
                </a:solidFill>
              </a:rPr>
              <a:t>visual cortex (V1</a:t>
            </a:r>
            <a:r>
              <a:rPr lang="en-US" sz="1050">
                <a:solidFill>
                  <a:srgbClr val="1A2B3C"/>
                </a:solidFill>
              </a:rPr>
              <a:t>) is the first stage of visual processing</a:t>
            </a:r>
            <a:r>
              <a:rPr lang="pl-PL" sz="1050">
                <a:solidFill>
                  <a:srgbClr val="1A2B3C"/>
                </a:solidFill>
              </a:rPr>
              <a:t>,</a:t>
            </a:r>
            <a:r>
              <a:rPr lang="en-US" sz="1050">
                <a:solidFill>
                  <a:srgbClr val="1A2B3C"/>
                </a:solidFill>
              </a:rPr>
              <a:t> transform</a:t>
            </a:r>
            <a:r>
              <a:rPr lang="pl-PL" sz="1050">
                <a:solidFill>
                  <a:srgbClr val="1A2B3C"/>
                </a:solidFill>
              </a:rPr>
              <a:t>ing</a:t>
            </a:r>
            <a:r>
              <a:rPr lang="en-US" sz="1050">
                <a:solidFill>
                  <a:srgbClr val="1A2B3C"/>
                </a:solidFill>
              </a:rPr>
              <a:t> </a:t>
            </a:r>
            <a:r>
              <a:rPr lang="en-US" sz="1050" dirty="0">
                <a:solidFill>
                  <a:srgbClr val="1A2B3C"/>
                </a:solidFill>
              </a:rPr>
              <a:t>retinal </a:t>
            </a:r>
            <a:r>
              <a:rPr lang="en-US" sz="1050">
                <a:solidFill>
                  <a:srgbClr val="1A2B3C"/>
                </a:solidFill>
              </a:rPr>
              <a:t>input into neural population</a:t>
            </a:r>
            <a:endParaRPr lang="pl-PL" sz="1050">
              <a:solidFill>
                <a:srgbClr val="1A2B3C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l-PL" sz="1050">
                <a:solidFill>
                  <a:srgbClr val="1A2B3C"/>
                </a:solidFill>
              </a:rPr>
              <a:t>Nature of encoding of stimulus identity is a central question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l-PL" sz="1050">
                <a:solidFill>
                  <a:srgbClr val="1A2B3C"/>
                </a:solidFill>
              </a:rPr>
              <a:t>MICrONS offers structured database allowing investigation of information encoding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l-PL" sz="1050">
                <a:solidFill>
                  <a:srgbClr val="1A2B3C"/>
                </a:solidFill>
              </a:rPr>
              <a:t>Dimensionality reduction, including general (PCA, t-SNE, UMAP) and specialized tools (CEBRA) allow structural analysis, visualization, and facilitated prediction/decoding</a:t>
            </a:r>
          </a:p>
          <a:p>
            <a:pPr>
              <a:spcAft>
                <a:spcPts val="500"/>
              </a:spcAft>
              <a:buSzPct val="100000"/>
            </a:pPr>
            <a:r>
              <a:rPr lang="pl-PL" sz="1050" b="1">
                <a:solidFill>
                  <a:srgbClr val="1A2B3C"/>
                </a:solidFill>
              </a:rPr>
              <a:t>Neural Layers</a:t>
            </a:r>
          </a:p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pl-PL" sz="1050">
                <a:solidFill>
                  <a:srgbClr val="1A2B3C"/>
                </a:solidFill>
              </a:rPr>
              <a:t>L4 is the primary thalamo-cortical input layer and may be expected to encode a more coherent signal</a:t>
            </a:r>
          </a:p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pl-PL" sz="1050">
                <a:solidFill>
                  <a:srgbClr val="1A2B3C"/>
                </a:solidFill>
              </a:rPr>
              <a:t>Other layers’ involvement may contribute to or detract from the informativity of a full-layer representation  </a:t>
            </a: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401AAF56-5AD6-517B-A808-3D8EFB7C73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576072"/>
            <a:ext cx="3886200" cy="3447288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31F8C473-EFFA-F059-104C-EF9A0265EC5D}"/>
              </a:ext>
            </a:extLst>
          </p:cNvPr>
          <p:cNvSpPr/>
          <p:nvPr/>
        </p:nvSpPr>
        <p:spPr>
          <a:xfrm>
            <a:off x="484632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3D anatomical positions of 728 proofreaded V1 excitatory neurons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coloured by cortical layer (L1–L6) — MICrONS v1718.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6325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36185-B92F-57DA-3B62-1FECBF3B9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D96DFD-6EDA-5C7D-32BF-132375EEBCB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5C18BA-D05C-872E-8AF4-B73AF485ACF6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Methodology — Dataset &amp; Preprocessing</a:t>
            </a:r>
            <a:endParaRPr lang="en-US" sz="17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8B48CB-070D-9DC4-8661-7D27C72BAEBC}"/>
              </a:ext>
            </a:extLst>
          </p:cNvPr>
          <p:cNvSpPr/>
          <p:nvPr/>
        </p:nvSpPr>
        <p:spPr>
          <a:xfrm>
            <a:off x="411480" y="592941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l-PL" sz="980" b="1">
                <a:solidFill>
                  <a:srgbClr val="1A2B3C"/>
                </a:solidFill>
              </a:rPr>
              <a:t>Dataset: MICrONS v1718</a:t>
            </a:r>
          </a:p>
          <a:p>
            <a:pPr marL="0" indent="0">
              <a:buNone/>
            </a:pPr>
            <a:endParaRPr lang="pl-PL" sz="980">
              <a:solidFill>
                <a:srgbClr val="1A2B3C"/>
              </a:solidFill>
            </a:endParaRPr>
          </a:p>
          <a:p>
            <a:pPr marL="0" indent="0">
              <a:buNone/>
            </a:pPr>
            <a:r>
              <a:rPr lang="pl-PL" sz="980" b="1">
                <a:solidFill>
                  <a:srgbClr val="1A2B3C"/>
                </a:solidFill>
              </a:rPr>
              <a:t>Neuron Selection / 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Layer 2/3-6 of V1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Proofread axons with matched functional tuning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Result: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579 trusted neurons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All excitatory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280 unique stimuli across 464 trials</a:t>
            </a:r>
            <a:endParaRPr lang="pl-PL" sz="980" dirty="0">
              <a:solidFill>
                <a:srgbClr val="1A2B3C"/>
              </a:solidFill>
            </a:endParaRPr>
          </a:p>
          <a:p>
            <a:pPr marL="0" lvl="1"/>
            <a:endParaRPr lang="pl-PL" sz="980">
              <a:solidFill>
                <a:srgbClr val="1A2B3C"/>
              </a:solidFill>
            </a:endParaRPr>
          </a:p>
          <a:p>
            <a:pPr marL="0" lvl="1"/>
            <a:r>
              <a:rPr lang="pl-PL" sz="980" b="1">
                <a:solidFill>
                  <a:srgbClr val="1A2B3C"/>
                </a:solidFill>
              </a:rPr>
              <a:t>Preprocessing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Removed neurons with &gt;10% NaN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Remaining NaNs imputed with column means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Constant response stimuli dropped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StandardScaler applied for zero mean and unit variance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pl-PL" sz="980">
                <a:solidFill>
                  <a:srgbClr val="1A2B3C"/>
                </a:solidFill>
              </a:rPr>
              <a:t>Class-balanced subsample derived</a:t>
            </a:r>
            <a:endParaRPr lang="pl-PL" sz="980" dirty="0">
              <a:solidFill>
                <a:srgbClr val="1A2B3C"/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47E7638-E05B-4264-BB7A-C825DB360749}"/>
              </a:ext>
            </a:extLst>
          </p:cNvPr>
          <p:cNvSpPr/>
          <p:nvPr/>
        </p:nvSpPr>
        <p:spPr>
          <a:xfrm>
            <a:off x="411480" y="4069080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F1CA826-37FA-6748-59C8-644E07ADECD5}"/>
              </a:ext>
            </a:extLst>
          </p:cNvPr>
          <p:cNvSpPr/>
          <p:nvPr/>
        </p:nvSpPr>
        <p:spPr>
          <a:xfrm>
            <a:off x="411480" y="4114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579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7F0E97-1D15-6E3E-BD75-AA001C7212FE}"/>
              </a:ext>
            </a:extLst>
          </p:cNvPr>
          <p:cNvSpPr/>
          <p:nvPr/>
        </p:nvSpPr>
        <p:spPr>
          <a:xfrm>
            <a:off x="411480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neurons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(V1 excit.)</a:t>
            </a:r>
            <a:endParaRPr lang="en-US" sz="8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46F299D-50D2-F134-6961-37AF0A2E0373}"/>
              </a:ext>
            </a:extLst>
          </p:cNvPr>
          <p:cNvSpPr/>
          <p:nvPr/>
        </p:nvSpPr>
        <p:spPr>
          <a:xfrm>
            <a:off x="2148840" y="4069080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7F1B27-A509-1B37-29BE-8AF9C9D88883}"/>
              </a:ext>
            </a:extLst>
          </p:cNvPr>
          <p:cNvSpPr/>
          <p:nvPr/>
        </p:nvSpPr>
        <p:spPr>
          <a:xfrm>
            <a:off x="2148840" y="4114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280</a:t>
            </a:r>
            <a:endParaRPr lang="en-US" sz="2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7D6C082-F843-2E02-981C-201F6961B8B1}"/>
              </a:ext>
            </a:extLst>
          </p:cNvPr>
          <p:cNvSpPr/>
          <p:nvPr/>
        </p:nvSpPr>
        <p:spPr>
          <a:xfrm>
            <a:off x="2148840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unique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stimuli</a:t>
            </a:r>
            <a:endParaRPr lang="en-US" sz="8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7B0F8C3-2E6B-F2F9-98AA-FCC75DF644A0}"/>
              </a:ext>
            </a:extLst>
          </p:cNvPr>
          <p:cNvSpPr/>
          <p:nvPr/>
        </p:nvSpPr>
        <p:spPr>
          <a:xfrm>
            <a:off x="411480" y="3107541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D17645B-46C8-C72E-A460-1846C116A59F}"/>
              </a:ext>
            </a:extLst>
          </p:cNvPr>
          <p:cNvSpPr/>
          <p:nvPr/>
        </p:nvSpPr>
        <p:spPr>
          <a:xfrm>
            <a:off x="443011" y="3180693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464</a:t>
            </a:r>
            <a:endParaRPr lang="en-US" sz="2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3CB07C9-7C26-0EB6-4F5C-6F2957D6F6CA}"/>
              </a:ext>
            </a:extLst>
          </p:cNvPr>
          <p:cNvSpPr/>
          <p:nvPr/>
        </p:nvSpPr>
        <p:spPr>
          <a:xfrm>
            <a:off x="443011" y="3581453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total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trials</a:t>
            </a:r>
            <a:endParaRPr lang="en-US" sz="85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44EAD79-0A64-EF2C-2130-9366FEC9817A}"/>
              </a:ext>
            </a:extLst>
          </p:cNvPr>
          <p:cNvSpPr/>
          <p:nvPr/>
        </p:nvSpPr>
        <p:spPr>
          <a:xfrm>
            <a:off x="4892040" y="548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</a:rPr>
              <a:t>Neuron Layer Distribution</a:t>
            </a:r>
            <a:endParaRPr lang="en-US" sz="1100" dirty="0"/>
          </a:p>
        </p:txBody>
      </p:sp>
      <p:graphicFrame>
        <p:nvGraphicFramePr>
          <p:cNvPr id="17" name="Chart 0">
            <a:extLst>
              <a:ext uri="{FF2B5EF4-FFF2-40B4-BE49-F238E27FC236}">
                <a16:creationId xmlns:a16="http://schemas.microsoft.com/office/drawing/2014/main" id="{DC6385CA-5A15-48A5-DEA9-66BA7217A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438379"/>
              </p:ext>
            </p:extLst>
          </p:nvPr>
        </p:nvGraphicFramePr>
        <p:xfrm>
          <a:off x="4892040" y="865723"/>
          <a:ext cx="4050162" cy="24433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 16">
            <a:extLst>
              <a:ext uri="{FF2B5EF4-FFF2-40B4-BE49-F238E27FC236}">
                <a16:creationId xmlns:a16="http://schemas.microsoft.com/office/drawing/2014/main" id="{12AB826C-EE60-EA91-6D6E-2A42EB93C79D}"/>
              </a:ext>
            </a:extLst>
          </p:cNvPr>
          <p:cNvSpPr/>
          <p:nvPr/>
        </p:nvSpPr>
        <p:spPr>
          <a:xfrm>
            <a:off x="4918842" y="33773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Stimulus </a:t>
            </a:r>
            <a:r>
              <a:rPr lang="en-US" sz="1000" b="1">
                <a:solidFill>
                  <a:srgbClr val="0A1628"/>
                </a:solidFill>
              </a:rPr>
              <a:t>Category Distribution</a:t>
            </a:r>
            <a:r>
              <a:rPr lang="pl-PL" sz="1000" b="1">
                <a:solidFill>
                  <a:srgbClr val="0A1628"/>
                </a:solidFill>
              </a:rPr>
              <a:t> (Initial)</a:t>
            </a:r>
            <a:endParaRPr lang="en-US" sz="1000" dirty="0"/>
          </a:p>
        </p:txBody>
      </p:sp>
      <p:graphicFrame>
        <p:nvGraphicFramePr>
          <p:cNvPr id="20" name="Chart 1">
            <a:extLst>
              <a:ext uri="{FF2B5EF4-FFF2-40B4-BE49-F238E27FC236}">
                <a16:creationId xmlns:a16="http://schemas.microsoft.com/office/drawing/2014/main" id="{6FB94D88-2DD0-9153-6F40-2F05A15BB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0026549"/>
              </p:ext>
            </p:extLst>
          </p:nvPr>
        </p:nvGraphicFramePr>
        <p:xfrm>
          <a:off x="4892040" y="3701743"/>
          <a:ext cx="4050162" cy="11994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72061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Methodology — Analysis Pipeline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" y="658368"/>
            <a:ext cx="411480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solidFill>
            <a:srgbClr val="1A5F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PART I — Trial-Averaged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1150" b="1">
                <a:solidFill>
                  <a:srgbClr val="FFFFFF"/>
                </a:solidFill>
              </a:rPr>
              <a:t>First Attempt</a:t>
            </a:r>
            <a:r>
              <a:rPr lang="en-US" sz="1150" b="1">
                <a:solidFill>
                  <a:srgbClr val="FFFFFF"/>
                </a:solidFill>
              </a:rPr>
              <a:t> </a:t>
            </a:r>
            <a:r>
              <a:rPr lang="pl-PL" sz="1150" b="1">
                <a:solidFill>
                  <a:srgbClr val="FFFFFF"/>
                </a:solidFill>
              </a:rPr>
              <a:t>– </a:t>
            </a:r>
            <a:r>
              <a:rPr lang="en-US" sz="1150" b="1">
                <a:solidFill>
                  <a:srgbClr val="FFFFFF"/>
                </a:solidFill>
              </a:rPr>
              <a:t>Trial-Averaged</a:t>
            </a:r>
            <a:r>
              <a:rPr lang="pl-PL" sz="1150" b="1">
                <a:solidFill>
                  <a:srgbClr val="FFFFFF"/>
                </a:solidFill>
              </a:rPr>
              <a:t> Dara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①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68096" y="1143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A2B3C"/>
                </a:solidFill>
              </a:rPr>
              <a:t>Average </a:t>
            </a:r>
            <a:r>
              <a:rPr lang="en-US" sz="900" dirty="0">
                <a:solidFill>
                  <a:srgbClr val="1A2B3C"/>
                </a:solidFill>
              </a:rPr>
              <a:t>trial repetitions </a:t>
            </a:r>
            <a:r>
              <a:rPr lang="en-US" sz="900">
                <a:solidFill>
                  <a:srgbClr val="1A2B3C"/>
                </a:solidFill>
              </a:rPr>
              <a:t>&amp; frames </a:t>
            </a:r>
            <a:r>
              <a:rPr lang="en-US" sz="900" dirty="0">
                <a:solidFill>
                  <a:srgbClr val="1A2B3C"/>
                </a:solidFill>
              </a:rPr>
              <a:t>per unique stimulus </a:t>
            </a:r>
            <a:r>
              <a:rPr lang="en-US" sz="900">
                <a:solidFill>
                  <a:srgbClr val="1A2B3C"/>
                </a:solidFill>
              </a:rPr>
              <a:t>hash </a:t>
            </a:r>
            <a:r>
              <a:rPr lang="pl-PL" sz="900">
                <a:solidFill>
                  <a:srgbClr val="1A2B3C"/>
                </a:solidFill>
              </a:rPr>
              <a:t>-&gt;</a:t>
            </a:r>
            <a:r>
              <a:rPr lang="en-US" sz="900">
                <a:solidFill>
                  <a:srgbClr val="1A2B3C"/>
                </a:solidFill>
              </a:rPr>
              <a:t> </a:t>
            </a:r>
            <a:r>
              <a:rPr lang="en-US" sz="900" dirty="0">
                <a:solidFill>
                  <a:srgbClr val="1A2B3C"/>
                </a:solidFill>
              </a:rPr>
              <a:t>280 × 579 response matrix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1837944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8096" y="183794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Apply PCA, t-SNE (perp 15/30/50), UMAP (nn 5/15/50</a:t>
            </a:r>
            <a:r>
              <a:rPr lang="en-US" sz="900">
                <a:solidFill>
                  <a:srgbClr val="1A2B3C"/>
                </a:solidFill>
              </a:rPr>
              <a:t>), CEBRA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532888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③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68096" y="25328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>
                <a:solidFill>
                  <a:srgbClr val="1A2B3C"/>
                </a:solidFill>
              </a:rPr>
              <a:t>StratifiedKFold</a:t>
            </a:r>
            <a:r>
              <a:rPr lang="pl-PL" sz="900">
                <a:solidFill>
                  <a:srgbClr val="1A2B3C"/>
                </a:solidFill>
              </a:rPr>
              <a:t> </a:t>
            </a:r>
            <a:r>
              <a:rPr lang="en-US" sz="900">
                <a:solidFill>
                  <a:srgbClr val="1A2B3C"/>
                </a:solidFill>
              </a:rPr>
              <a:t>(</a:t>
            </a:r>
            <a:r>
              <a:rPr lang="en-US" sz="900" dirty="0">
                <a:solidFill>
                  <a:srgbClr val="1A2B3C"/>
                </a:solidFill>
              </a:rPr>
              <a:t>n=5) logistic regression on </a:t>
            </a:r>
            <a:r>
              <a:rPr lang="en-US" sz="900">
                <a:solidFill>
                  <a:srgbClr val="1A2B3C"/>
                </a:solidFill>
              </a:rPr>
              <a:t>2D coord</a:t>
            </a:r>
            <a:r>
              <a:rPr lang="pl-PL" sz="900">
                <a:solidFill>
                  <a:srgbClr val="1A2B3C"/>
                </a:solidFill>
              </a:rPr>
              <a:t>inates -&gt;</a:t>
            </a:r>
            <a:r>
              <a:rPr lang="en-US" sz="900">
                <a:solidFill>
                  <a:srgbClr val="1A2B3C"/>
                </a:solidFill>
              </a:rPr>
              <a:t> </a:t>
            </a:r>
            <a:r>
              <a:rPr lang="en-US" sz="900" dirty="0">
                <a:solidFill>
                  <a:srgbClr val="1A2B3C"/>
                </a:solidFill>
              </a:rPr>
              <a:t>balanced accuracy &amp; macro F1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3227832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④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68096" y="32278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Shuffle control: permute stimulus labels 100× at </a:t>
            </a:r>
            <a:r>
              <a:rPr lang="en-US" sz="900">
                <a:solidFill>
                  <a:srgbClr val="1A2B3C"/>
                </a:solidFill>
              </a:rPr>
              <a:t>stimulus level</a:t>
            </a:r>
            <a:r>
              <a:rPr lang="pl-PL" sz="900">
                <a:solidFill>
                  <a:srgbClr val="1A2B3C"/>
                </a:solidFill>
              </a:rPr>
              <a:t> -&gt;</a:t>
            </a:r>
            <a:r>
              <a:rPr lang="en-US" sz="900">
                <a:solidFill>
                  <a:srgbClr val="1A2B3C"/>
                </a:solidFill>
              </a:rPr>
              <a:t> empirical null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3922776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⑤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39227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900">
                <a:solidFill>
                  <a:srgbClr val="1A2B3C"/>
                </a:solidFill>
              </a:rPr>
              <a:t>Per-layer </a:t>
            </a:r>
            <a:r>
              <a:rPr lang="en-US" sz="900">
                <a:solidFill>
                  <a:srgbClr val="1A2B3C"/>
                </a:solidFill>
              </a:rPr>
              <a:t>analysis</a:t>
            </a:r>
            <a:r>
              <a:rPr lang="en-US" sz="900" dirty="0">
                <a:solidFill>
                  <a:srgbClr val="1A2B3C"/>
                </a:solidFill>
              </a:rPr>
              <a:t>: repeat pipeline for L4 (257 neurons) and L2/3 (220 neurons) separately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658368"/>
            <a:ext cx="411480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658368"/>
            <a:ext cx="4114800" cy="365760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0" y="6583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1150" b="1">
                <a:solidFill>
                  <a:srgbClr val="FFFFFF"/>
                </a:solidFill>
              </a:rPr>
              <a:t>Improved Approach –</a:t>
            </a:r>
            <a:r>
              <a:rPr lang="en-US" sz="1150" b="1">
                <a:solidFill>
                  <a:srgbClr val="FFFFFF"/>
                </a:solidFill>
              </a:rPr>
              <a:t> Temporal</a:t>
            </a:r>
            <a:r>
              <a:rPr lang="pl-PL" sz="1150" b="1">
                <a:solidFill>
                  <a:srgbClr val="FFFFFF"/>
                </a:solidFill>
              </a:rPr>
              <a:t> Bins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92040" y="1143000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①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48656" y="1143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Segment each trial into 5-frame </a:t>
            </a:r>
            <a:r>
              <a:rPr lang="en-US" sz="900">
                <a:solidFill>
                  <a:srgbClr val="1A2B3C"/>
                </a:solidFill>
              </a:rPr>
              <a:t>bins </a:t>
            </a:r>
            <a:r>
              <a:rPr lang="pl-PL" sz="900">
                <a:solidFill>
                  <a:srgbClr val="1A2B3C"/>
                </a:solidFill>
              </a:rPr>
              <a:t>-&gt;</a:t>
            </a:r>
            <a:r>
              <a:rPr lang="en-US" sz="900">
                <a:solidFill>
                  <a:srgbClr val="1A2B3C"/>
                </a:solidFill>
              </a:rPr>
              <a:t> 7</a:t>
            </a:r>
            <a:r>
              <a:rPr lang="pl-PL" sz="900">
                <a:solidFill>
                  <a:srgbClr val="1A2B3C"/>
                </a:solidFill>
              </a:rPr>
              <a:t> </a:t>
            </a:r>
            <a:r>
              <a:rPr lang="en-US" sz="900">
                <a:solidFill>
                  <a:srgbClr val="1A2B3C"/>
                </a:solidFill>
              </a:rPr>
              <a:t>520 </a:t>
            </a:r>
            <a:r>
              <a:rPr lang="en-US" sz="900" dirty="0">
                <a:solidFill>
                  <a:srgbClr val="1A2B3C"/>
                </a:solidFill>
              </a:rPr>
              <a:t>samples (bin </a:t>
            </a:r>
            <a:r>
              <a:rPr lang="en-US" sz="900">
                <a:solidFill>
                  <a:srgbClr val="1A2B3C"/>
                </a:solidFill>
              </a:rPr>
              <a:t>× neuron </a:t>
            </a:r>
            <a:r>
              <a:rPr lang="en-US" sz="900" dirty="0">
                <a:solidFill>
                  <a:srgbClr val="1A2B3C"/>
                </a:solidFill>
              </a:rPr>
              <a:t>matrix)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92040" y="1837944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9204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②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248656" y="183794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900">
                <a:solidFill>
                  <a:srgbClr val="1A2B3C"/>
                </a:solidFill>
              </a:rPr>
              <a:t>Apply PCA-2D, UMAP, CEBRA; t-SNE for visualization only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92040" y="2532888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92040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③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48656" y="25328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>
                <a:solidFill>
                  <a:srgbClr val="1A2B3C"/>
                </a:solidFill>
              </a:rPr>
              <a:t>GroupKFold </a:t>
            </a:r>
            <a:r>
              <a:rPr lang="pl-PL" sz="900">
                <a:solidFill>
                  <a:srgbClr val="1A2B3C"/>
                </a:solidFill>
              </a:rPr>
              <a:t>(n=5</a:t>
            </a:r>
            <a:r>
              <a:rPr lang="en-US" sz="900">
                <a:solidFill>
                  <a:srgbClr val="1A2B3C"/>
                </a:solidFill>
              </a:rPr>
              <a:t>)</a:t>
            </a:r>
            <a:r>
              <a:rPr lang="pl-PL" sz="900">
                <a:solidFill>
                  <a:srgbClr val="1A2B3C"/>
                </a:solidFill>
              </a:rPr>
              <a:t> -&gt; impute an evaluate with logistic regression in each fold -&gt; balanced accuracy &amp; macro F1</a:t>
            </a:r>
            <a:endParaRPr lang="en-US" sz="900"/>
          </a:p>
        </p:txBody>
      </p:sp>
      <p:sp>
        <p:nvSpPr>
          <p:cNvPr id="38" name="Shape 36"/>
          <p:cNvSpPr/>
          <p:nvPr/>
        </p:nvSpPr>
        <p:spPr>
          <a:xfrm>
            <a:off x="4892040" y="3227832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9204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④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248656" y="32278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Shuffle control: permute labels at the trial level (all bins of a trial get same shuffled label)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92040" y="3922776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92040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⑤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48656" y="39227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900">
                <a:solidFill>
                  <a:srgbClr val="1A2B3C"/>
                </a:solidFill>
              </a:rPr>
              <a:t>Per-layer analysis</a:t>
            </a:r>
            <a:r>
              <a:rPr lang="en-US" sz="900">
                <a:solidFill>
                  <a:srgbClr val="1A2B3C"/>
                </a:solidFill>
              </a:rPr>
              <a:t>: repeat</a:t>
            </a:r>
            <a:r>
              <a:rPr lang="pl-PL" sz="900">
                <a:solidFill>
                  <a:srgbClr val="1A2B3C"/>
                </a:solidFill>
              </a:rPr>
              <a:t> pipeline</a:t>
            </a:r>
            <a:r>
              <a:rPr lang="en-US" sz="900">
                <a:solidFill>
                  <a:srgbClr val="1A2B3C"/>
                </a:solidFill>
              </a:rPr>
              <a:t> </a:t>
            </a:r>
            <a:r>
              <a:rPr lang="en-US" sz="900" dirty="0">
                <a:solidFill>
                  <a:srgbClr val="1A2B3C"/>
                </a:solidFill>
              </a:rPr>
              <a:t>for L2/3 (220), L4 (257), L5 (89</a:t>
            </a:r>
            <a:r>
              <a:rPr lang="en-US" sz="900">
                <a:solidFill>
                  <a:srgbClr val="1A2B3C"/>
                </a:solidFill>
              </a:rPr>
              <a:t>) </a:t>
            </a:r>
            <a:r>
              <a:rPr lang="pl-PL" sz="900">
                <a:solidFill>
                  <a:srgbClr val="1A2B3C"/>
                </a:solidFill>
              </a:rPr>
              <a:t>with PCA and CEBRA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07408" y="2377440"/>
            <a:ext cx="329184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389120" y="224028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600">
                <a:solidFill>
                  <a:srgbClr val="64748B"/>
                </a:solidFill>
              </a:rPr>
              <a:t>-&gt;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40174-DD87-275B-46F3-CAF9DDE7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8FD824A-E405-958D-0127-14B8C53F0F6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CA118-C9C1-7F9E-218B-9920A7F01DF5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Results — Part I: Dimensionality Reduction</a:t>
            </a:r>
            <a:endParaRPr lang="en-US" sz="17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01DB587B-4D6E-F91E-AD6F-4DE39BA915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83514"/>
            <a:ext cx="5486400" cy="1647063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355C0DE9-C964-CBB2-46CA-EF9DBFEA20E4}"/>
              </a:ext>
            </a:extLst>
          </p:cNvPr>
          <p:cNvSpPr/>
          <p:nvPr/>
        </p:nvSpPr>
        <p:spPr>
          <a:xfrm>
            <a:off x="274320" y="2335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>
                <a:solidFill>
                  <a:srgbClr val="64748B"/>
                </a:solidFill>
              </a:rPr>
              <a:t>PCA</a:t>
            </a:r>
            <a:r>
              <a:rPr lang="pl-PL" sz="750" i="1">
                <a:solidFill>
                  <a:srgbClr val="64748B"/>
                </a:solidFill>
              </a:rPr>
              <a:t>,</a:t>
            </a:r>
            <a:r>
              <a:rPr lang="en-US" sz="750" i="1">
                <a:solidFill>
                  <a:srgbClr val="64748B"/>
                </a:solidFill>
              </a:rPr>
              <a:t> </a:t>
            </a:r>
            <a:r>
              <a:rPr lang="en-US" sz="750" i="1" dirty="0">
                <a:solidFill>
                  <a:srgbClr val="64748B"/>
                </a:solidFill>
              </a:rPr>
              <a:t>t-SNE (perp=</a:t>
            </a:r>
            <a:r>
              <a:rPr lang="en-US" sz="750" i="1">
                <a:solidFill>
                  <a:srgbClr val="64748B"/>
                </a:solidFill>
              </a:rPr>
              <a:t>30)</a:t>
            </a:r>
            <a:r>
              <a:rPr lang="pl-PL" sz="750" i="1">
                <a:solidFill>
                  <a:srgbClr val="64748B"/>
                </a:solidFill>
              </a:rPr>
              <a:t>,</a:t>
            </a:r>
            <a:r>
              <a:rPr lang="en-US" sz="750" i="1">
                <a:solidFill>
                  <a:srgbClr val="64748B"/>
                </a:solidFill>
              </a:rPr>
              <a:t> </a:t>
            </a:r>
            <a:r>
              <a:rPr lang="en-US" sz="750" i="1" dirty="0">
                <a:solidFill>
                  <a:srgbClr val="64748B"/>
                </a:solidFill>
              </a:rPr>
              <a:t>UMAP (nn=</a:t>
            </a:r>
            <a:r>
              <a:rPr lang="en-US" sz="750" i="1">
                <a:solidFill>
                  <a:srgbClr val="64748B"/>
                </a:solidFill>
              </a:rPr>
              <a:t>15)</a:t>
            </a:r>
            <a:r>
              <a:rPr lang="pl-PL" sz="750" i="1">
                <a:solidFill>
                  <a:srgbClr val="64748B"/>
                </a:solidFill>
              </a:rPr>
              <a:t>,</a:t>
            </a:r>
            <a:r>
              <a:rPr lang="en-US" sz="750" i="1">
                <a:solidFill>
                  <a:srgbClr val="64748B"/>
                </a:solidFill>
              </a:rPr>
              <a:t> CEBRA </a:t>
            </a:r>
            <a:r>
              <a:rPr lang="en-US" sz="750" i="1" dirty="0">
                <a:solidFill>
                  <a:srgbClr val="64748B"/>
                </a:solidFill>
              </a:rPr>
              <a:t>2D embeddings on 280 trial-averaged stimuli</a:t>
            </a:r>
            <a:endParaRPr lang="en-US" sz="750" dirty="0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819830FC-31BB-7CBC-6E4F-99B19AC322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320" y="2711669"/>
            <a:ext cx="5486400" cy="2189515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FC45A315-66FF-5801-0C75-A1034C38069D}"/>
              </a:ext>
            </a:extLst>
          </p:cNvPr>
          <p:cNvSpPr/>
          <p:nvPr/>
        </p:nvSpPr>
        <p:spPr>
          <a:xfrm>
            <a:off x="5943600" y="685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</a:rPr>
              <a:t>Classification Performance (</a:t>
            </a:r>
            <a:r>
              <a:rPr lang="en-US" sz="1050" b="1">
                <a:solidFill>
                  <a:srgbClr val="0A1628"/>
                </a:solidFill>
              </a:rPr>
              <a:t>Balanced Acc</a:t>
            </a:r>
            <a:r>
              <a:rPr lang="pl-PL" sz="1050" b="1">
                <a:solidFill>
                  <a:srgbClr val="0A1628"/>
                </a:solidFill>
              </a:rPr>
              <a:t>uracy</a:t>
            </a:r>
            <a:r>
              <a:rPr lang="en-US" sz="1050" b="1">
                <a:solidFill>
                  <a:srgbClr val="0A1628"/>
                </a:solidFill>
              </a:rPr>
              <a:t>)</a:t>
            </a:r>
            <a:endParaRPr lang="en-US" sz="1050" dirty="0"/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41364B1C-01A3-0B7D-8545-D84B42D91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081143"/>
              </p:ext>
            </p:extLst>
          </p:nvPr>
        </p:nvGraphicFramePr>
        <p:xfrm>
          <a:off x="5943600" y="1005840"/>
          <a:ext cx="2926080" cy="1371600"/>
        </p:xfrm>
        <a:graphic>
          <a:graphicData uri="http://schemas.openxmlformats.org/drawingml/2006/table">
            <a:tbl>
              <a:tblPr/>
              <a:tblGrid>
                <a:gridCol w="975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Bal. Acc.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PCA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0.465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0.364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t-SNE (p=30)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0.401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0.339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UMAP (nn=15)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0.515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0.471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CEBRA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0.274  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0.185  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5">
            <a:extLst>
              <a:ext uri="{FF2B5EF4-FFF2-40B4-BE49-F238E27FC236}">
                <a16:creationId xmlns:a16="http://schemas.microsoft.com/office/drawing/2014/main" id="{10ACC4EB-B14F-3BAF-7295-BEC8E2838F08}"/>
              </a:ext>
            </a:extLst>
          </p:cNvPr>
          <p:cNvSpPr/>
          <p:nvPr/>
        </p:nvSpPr>
        <p:spPr>
          <a:xfrm>
            <a:off x="5943600" y="2944368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B2F0E6F-36B6-9727-5CD3-DA7F3283424E}"/>
              </a:ext>
            </a:extLst>
          </p:cNvPr>
          <p:cNvSpPr/>
          <p:nvPr/>
        </p:nvSpPr>
        <p:spPr>
          <a:xfrm>
            <a:off x="5943600" y="2944368"/>
            <a:ext cx="64008" cy="603504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C6E0FE38-7FEE-4D20-D2B4-69842F799E4A}"/>
              </a:ext>
            </a:extLst>
          </p:cNvPr>
          <p:cNvSpPr/>
          <p:nvPr/>
        </p:nvSpPr>
        <p:spPr>
          <a:xfrm>
            <a:off x="6080760" y="2962656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FA8"/>
                </a:solidFill>
              </a:rPr>
              <a:t>UMAP leads</a:t>
            </a:r>
            <a:endParaRPr lang="en-US" sz="9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3C0997B6-D94E-42F4-6FE2-19546D0BD7C5}"/>
              </a:ext>
            </a:extLst>
          </p:cNvPr>
          <p:cNvSpPr/>
          <p:nvPr/>
        </p:nvSpPr>
        <p:spPr>
          <a:xfrm>
            <a:off x="6080760" y="3163824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UMAP (nn=15) achieves the highest balanced accuracy </a:t>
            </a:r>
            <a:r>
              <a:rPr lang="en-US" sz="800">
                <a:solidFill>
                  <a:srgbClr val="1A2B3C"/>
                </a:solidFill>
              </a:rPr>
              <a:t>of 0.515</a:t>
            </a:r>
            <a:r>
              <a:rPr lang="pl-PL" sz="800">
                <a:solidFill>
                  <a:srgbClr val="1A2B3C"/>
                </a:solidFill>
              </a:rPr>
              <a:t>, </a:t>
            </a:r>
            <a:r>
              <a:rPr lang="en-US" sz="800">
                <a:solidFill>
                  <a:srgbClr val="1A2B3C"/>
                </a:solidFill>
              </a:rPr>
              <a:t>significantly </a:t>
            </a:r>
            <a:r>
              <a:rPr lang="en-US" sz="800" dirty="0">
                <a:solidFill>
                  <a:srgbClr val="1A2B3C"/>
                </a:solidFill>
              </a:rPr>
              <a:t>above the 0.333 chance level (p &lt; </a:t>
            </a:r>
            <a:r>
              <a:rPr lang="en-US" sz="800">
                <a:solidFill>
                  <a:srgbClr val="1A2B3C"/>
                </a:solidFill>
              </a:rPr>
              <a:t>0.001)</a:t>
            </a:r>
            <a:endParaRPr lang="en-US" sz="8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06B333BE-069D-C72F-4013-299F60143D46}"/>
              </a:ext>
            </a:extLst>
          </p:cNvPr>
          <p:cNvSpPr/>
          <p:nvPr/>
        </p:nvSpPr>
        <p:spPr>
          <a:xfrm>
            <a:off x="5943600" y="3621024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C28C9E1A-8FB7-FF61-E1B7-4270B251CCEB}"/>
              </a:ext>
            </a:extLst>
          </p:cNvPr>
          <p:cNvSpPr/>
          <p:nvPr/>
        </p:nvSpPr>
        <p:spPr>
          <a:xfrm>
            <a:off x="5943600" y="3621024"/>
            <a:ext cx="64008" cy="603504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2FD3B45-89B1-BBC1-BF77-31CEBE2827A7}"/>
              </a:ext>
            </a:extLst>
          </p:cNvPr>
          <p:cNvSpPr/>
          <p:nvPr/>
        </p:nvSpPr>
        <p:spPr>
          <a:xfrm>
            <a:off x="6080760" y="3639312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E05252"/>
                </a:solidFill>
              </a:rPr>
              <a:t>CEBRA fails</a:t>
            </a:r>
            <a:endParaRPr lang="en-US" sz="9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502BDF51-6448-914E-345C-060AAD9E0467}"/>
              </a:ext>
            </a:extLst>
          </p:cNvPr>
          <p:cNvSpPr/>
          <p:nvPr/>
        </p:nvSpPr>
        <p:spPr>
          <a:xfrm>
            <a:off x="6080760" y="38404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1A2B3C"/>
                </a:solidFill>
              </a:rPr>
              <a:t>Non-temporal data and small sample size prevents expected CEBRA high performance</a:t>
            </a:r>
            <a:endParaRPr lang="en-US" sz="8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D462AEF5-DA7F-7EED-0749-15C8C2F3A28F}"/>
              </a:ext>
            </a:extLst>
          </p:cNvPr>
          <p:cNvSpPr/>
          <p:nvPr/>
        </p:nvSpPr>
        <p:spPr>
          <a:xfrm>
            <a:off x="5943600" y="4297680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74274CB-0054-AB4F-0EA0-8F4DF1A3B8A4}"/>
              </a:ext>
            </a:extLst>
          </p:cNvPr>
          <p:cNvSpPr/>
          <p:nvPr/>
        </p:nvSpPr>
        <p:spPr>
          <a:xfrm>
            <a:off x="5943600" y="4297680"/>
            <a:ext cx="64008" cy="603504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88F2EDF5-FFDA-E9DE-AE4C-0EEFD0929AC7}"/>
              </a:ext>
            </a:extLst>
          </p:cNvPr>
          <p:cNvSpPr/>
          <p:nvPr/>
        </p:nvSpPr>
        <p:spPr>
          <a:xfrm>
            <a:off x="6080760" y="431596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PCA participation ratio</a:t>
            </a:r>
            <a:endParaRPr lang="en-US" sz="90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10184E45-0353-7BBD-94D2-922F8F6A66FB}"/>
              </a:ext>
            </a:extLst>
          </p:cNvPr>
          <p:cNvSpPr/>
          <p:nvPr/>
        </p:nvSpPr>
        <p:spPr>
          <a:xfrm>
            <a:off x="6080760" y="451713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Effective dimensionality = </a:t>
            </a:r>
            <a:r>
              <a:rPr lang="en-US" sz="800">
                <a:solidFill>
                  <a:srgbClr val="1A2B3C"/>
                </a:solidFill>
              </a:rPr>
              <a:t>47.2 PCs</a:t>
            </a:r>
            <a:r>
              <a:rPr lang="pl-PL" sz="800">
                <a:solidFill>
                  <a:srgbClr val="1A2B3C"/>
                </a:solidFill>
              </a:rPr>
              <a:t>.</a:t>
            </a:r>
            <a:r>
              <a:rPr lang="en-US" sz="800">
                <a:solidFill>
                  <a:srgbClr val="1A2B3C"/>
                </a:solidFill>
              </a:rPr>
              <a:t> </a:t>
            </a:r>
            <a:r>
              <a:rPr lang="en-US" sz="800" dirty="0">
                <a:solidFill>
                  <a:srgbClr val="1A2B3C"/>
                </a:solidFill>
              </a:rPr>
              <a:t>82 PCs needed for 80</a:t>
            </a:r>
            <a:r>
              <a:rPr lang="en-US" sz="800">
                <a:solidFill>
                  <a:srgbClr val="1A2B3C"/>
                </a:solidFill>
              </a:rPr>
              <a:t>% variance</a:t>
            </a:r>
            <a:r>
              <a:rPr lang="pl-PL" sz="800">
                <a:solidFill>
                  <a:srgbClr val="1A2B3C"/>
                </a:solidFill>
              </a:rPr>
              <a:t>;</a:t>
            </a:r>
            <a:r>
              <a:rPr lang="en-US" sz="800">
                <a:solidFill>
                  <a:srgbClr val="1A2B3C"/>
                </a:solidFill>
              </a:rPr>
              <a:t> </a:t>
            </a:r>
            <a:r>
              <a:rPr lang="en-US" sz="800" dirty="0">
                <a:solidFill>
                  <a:srgbClr val="1A2B3C"/>
                </a:solidFill>
              </a:rPr>
              <a:t>V1 </a:t>
            </a:r>
            <a:r>
              <a:rPr lang="en-US" sz="800">
                <a:solidFill>
                  <a:srgbClr val="1A2B3C"/>
                </a:solidFill>
              </a:rPr>
              <a:t>activity lies </a:t>
            </a:r>
            <a:r>
              <a:rPr lang="en-US" sz="800" dirty="0">
                <a:solidFill>
                  <a:srgbClr val="1A2B3C"/>
                </a:solidFill>
              </a:rPr>
              <a:t>in a </a:t>
            </a:r>
            <a:r>
              <a:rPr lang="en-US" sz="800">
                <a:solidFill>
                  <a:srgbClr val="1A2B3C"/>
                </a:solidFill>
              </a:rPr>
              <a:t>high-dimensional space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19076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300D4F-8FFD-2C64-9F3B-BDFFD730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4C271D6-D082-3A00-0943-6579681AECD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C1C5D8-61A8-3594-A82D-48D309D714DF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</a:rPr>
              <a:t>Result</a:t>
            </a:r>
            <a:r>
              <a:rPr lang="pl-PL" sz="1700" b="1">
                <a:solidFill>
                  <a:srgbClr val="FFFFFF"/>
                </a:solidFill>
              </a:rPr>
              <a:t>s – Improved Approach: 5-Frame Bins</a:t>
            </a:r>
            <a:endParaRPr lang="en-US" sz="17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28ACD67-B082-B77B-B35B-D0A147DFCDB6}"/>
              </a:ext>
            </a:extLst>
          </p:cNvPr>
          <p:cNvSpPr/>
          <p:nvPr/>
        </p:nvSpPr>
        <p:spPr>
          <a:xfrm>
            <a:off x="320040" y="640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500" b="1">
                <a:solidFill>
                  <a:srgbClr val="1A5FA8"/>
                </a:solidFill>
              </a:rPr>
              <a:t>CEBRA-8D Achieves 90% Accuracy, PCA-50D Achieves 81%</a:t>
            </a:r>
            <a:endParaRPr lang="en-US" sz="1500" dirty="0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937E48CB-872A-1C06-4DBE-5582BE6E07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960120"/>
            <a:ext cx="8412480" cy="2002536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2C1A3EBE-0CBD-3383-93FB-B67575EE3377}"/>
              </a:ext>
            </a:extLst>
          </p:cNvPr>
          <p:cNvSpPr/>
          <p:nvPr/>
        </p:nvSpPr>
        <p:spPr>
          <a:xfrm>
            <a:off x="1426056" y="294972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Confusion matrices for PCA-2D, PCA-50D, UMAP-2D, CEBRA-8D — GroupKFold per trial</a:t>
            </a:r>
            <a:endParaRPr lang="en-US" sz="75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C87E051-4E8E-3FE6-F73D-4454A724FA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0040" y="3282696"/>
            <a:ext cx="2560320" cy="1636776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2536FBA-F974-807D-B34B-553E07A7A866}"/>
              </a:ext>
            </a:extLst>
          </p:cNvPr>
          <p:cNvSpPr/>
          <p:nvPr/>
        </p:nvSpPr>
        <p:spPr>
          <a:xfrm>
            <a:off x="32004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Part II shuffle null</a:t>
            </a:r>
            <a:endParaRPr lang="en-US" sz="750" dirty="0"/>
          </a:p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(trial-level permutation)</a:t>
            </a:r>
            <a:endParaRPr lang="en-US" sz="750" dirty="0"/>
          </a:p>
        </p:txBody>
      </p:sp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75B90E70-5C85-ADC3-E321-B4CB1C5A7A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17520" y="3282696"/>
            <a:ext cx="2606040" cy="1636776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0204B95B-E518-D991-EBCF-9044CF9218CB}"/>
              </a:ext>
            </a:extLst>
          </p:cNvPr>
          <p:cNvSpPr/>
          <p:nvPr/>
        </p:nvSpPr>
        <p:spPr>
          <a:xfrm>
            <a:off x="3017520" y="48920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Part II PCA scree — effective dim 212</a:t>
            </a:r>
            <a:endParaRPr lang="en-US" sz="75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8DA3C9C-0595-3042-5DE9-199D15DADE7C}"/>
              </a:ext>
            </a:extLst>
          </p:cNvPr>
          <p:cNvSpPr/>
          <p:nvPr/>
        </p:nvSpPr>
        <p:spPr>
          <a:xfrm>
            <a:off x="5918376" y="2991349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Part II — GroupKFold Results</a:t>
            </a:r>
            <a:endParaRPr lang="en-US" sz="100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CD07E6E6-2CF4-F7A6-B185-4BD8C0694C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081077"/>
              </p:ext>
            </p:extLst>
          </p:nvPr>
        </p:nvGraphicFramePr>
        <p:xfrm>
          <a:off x="5760720" y="3266930"/>
          <a:ext cx="3108960" cy="1625110"/>
        </p:xfrm>
        <a:graphic>
          <a:graphicData uri="http://schemas.openxmlformats.org/drawingml/2006/table">
            <a:tbl>
              <a:tblPr/>
              <a:tblGrid>
                <a:gridCol w="103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50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Bal. Acc.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PCA-2D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0.457 </a:t>
                      </a: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± 0.0</a:t>
                      </a:r>
                      <a:r>
                        <a:rPr lang="pl-PL" sz="80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0.378 </a:t>
                      </a: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± 0.0</a:t>
                      </a:r>
                      <a:r>
                        <a:rPr lang="pl-PL" sz="80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>
                          <a:solidFill>
                            <a:srgbClr val="1A5FA8"/>
                          </a:solidFill>
                        </a:rPr>
                        <a:t>PCA-50D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5FA8"/>
                          </a:solidFill>
                        </a:rPr>
                        <a:t>0.813 </a:t>
                      </a:r>
                      <a:r>
                        <a:rPr lang="en-US" sz="800" b="1">
                          <a:solidFill>
                            <a:srgbClr val="1A5FA8"/>
                          </a:solidFill>
                        </a:rPr>
                        <a:t>± 0.02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5FA8"/>
                          </a:solidFill>
                        </a:rPr>
                        <a:t>0.740 </a:t>
                      </a:r>
                      <a:r>
                        <a:rPr lang="en-US" sz="800" b="1">
                          <a:solidFill>
                            <a:srgbClr val="1A5FA8"/>
                          </a:solidFill>
                        </a:rPr>
                        <a:t>± 0.02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UMAP-2D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0.385 </a:t>
                      </a: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± 0.03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0.350 </a:t>
                      </a:r>
                      <a:r>
                        <a:rPr lang="en-US" sz="800">
                          <a:solidFill>
                            <a:srgbClr val="000000"/>
                          </a:solidFill>
                        </a:rPr>
                        <a:t>± 0.03</a:t>
                      </a:r>
                      <a:endParaRPr lang="en-US" sz="800" dirty="0"/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l-PL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CEBRA-8D</a:t>
                      </a:r>
                      <a:endParaRPr lang="en-US" sz="800" b="1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l-PL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0.903 </a:t>
                      </a:r>
                      <a:r>
                        <a:rPr lang="en-US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±</a:t>
                      </a:r>
                      <a:r>
                        <a:rPr lang="pl-PL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 0.02</a:t>
                      </a:r>
                      <a:endParaRPr lang="en-US" sz="800" b="1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l-PL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0.906 </a:t>
                      </a:r>
                      <a:r>
                        <a:rPr lang="en-US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±</a:t>
                      </a:r>
                      <a:r>
                        <a:rPr lang="pl-PL" sz="800" b="1">
                          <a:solidFill>
                            <a:schemeClr val="accent5">
                              <a:lumMod val="75000"/>
                            </a:schemeClr>
                          </a:solidFill>
                        </a:rPr>
                        <a:t> 0.01</a:t>
                      </a:r>
                      <a:endParaRPr lang="en-US" sz="800" b="1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13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0289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085CFB-B3BC-96A1-EE95-C3AAE7D0E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1F035E-B6B0-EC7E-C0E4-2BD0313B3AF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253268-9498-43FD-6FF3-41CE76476A56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700" b="1">
                <a:solidFill>
                  <a:srgbClr val="FFFFFF"/>
                </a:solidFill>
              </a:rPr>
              <a:t>Layer Performance Analysis</a:t>
            </a:r>
            <a:endParaRPr lang="en-US" sz="17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68712BFF-0CBF-CFAA-FB45-36FB2E248C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03504"/>
            <a:ext cx="8595360" cy="21945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BEC39686-8699-0021-13BA-D90C6FFC6529}"/>
              </a:ext>
            </a:extLst>
          </p:cNvPr>
          <p:cNvSpPr/>
          <p:nvPr/>
        </p:nvSpPr>
        <p:spPr>
          <a:xfrm>
            <a:off x="274320" y="277977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PCA-50D, UMAP-2D, CEBRA-8D — GroupKFold balanced accuracy and F1 broken down by cortical layer</a:t>
            </a:r>
            <a:endParaRPr lang="en-US" sz="75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544F93-EC30-BEA7-5726-189D25984277}"/>
              </a:ext>
            </a:extLst>
          </p:cNvPr>
          <p:cNvSpPr/>
          <p:nvPr/>
        </p:nvSpPr>
        <p:spPr>
          <a:xfrm>
            <a:off x="610125" y="3314700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C3EDF3C6-AB4B-6A5F-CFBA-49A839646EEC}"/>
              </a:ext>
            </a:extLst>
          </p:cNvPr>
          <p:cNvSpPr/>
          <p:nvPr/>
        </p:nvSpPr>
        <p:spPr>
          <a:xfrm>
            <a:off x="610125" y="3313754"/>
            <a:ext cx="64008" cy="594360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03B742-7C72-1D9E-C98C-F8FC1BED386D}"/>
              </a:ext>
            </a:extLst>
          </p:cNvPr>
          <p:cNvSpPr/>
          <p:nvPr/>
        </p:nvSpPr>
        <p:spPr>
          <a:xfrm>
            <a:off x="710709" y="3313754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FA8"/>
                </a:solidFill>
              </a:rPr>
              <a:t>L4 </a:t>
            </a:r>
            <a:r>
              <a:rPr lang="en-US" sz="900" b="1">
                <a:solidFill>
                  <a:srgbClr val="1A5FA8"/>
                </a:solidFill>
              </a:rPr>
              <a:t>leads </a:t>
            </a:r>
            <a:r>
              <a:rPr lang="pl-PL" sz="900" b="1">
                <a:solidFill>
                  <a:srgbClr val="1A5FA8"/>
                </a:solidFill>
              </a:rPr>
              <a:t>among</a:t>
            </a:r>
            <a:r>
              <a:rPr lang="en-US" sz="900" b="1">
                <a:solidFill>
                  <a:srgbClr val="1A5FA8"/>
                </a:solidFill>
              </a:rPr>
              <a:t> </a:t>
            </a:r>
            <a:r>
              <a:rPr lang="en-US" sz="900" b="1" dirty="0">
                <a:solidFill>
                  <a:srgbClr val="1A5FA8"/>
                </a:solidFill>
              </a:rPr>
              <a:t>layers</a:t>
            </a:r>
            <a:endParaRPr lang="en-US" sz="9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B058CB1B-A544-9290-3518-CB2A376B6637}"/>
              </a:ext>
            </a:extLst>
          </p:cNvPr>
          <p:cNvSpPr/>
          <p:nvPr/>
        </p:nvSpPr>
        <p:spPr>
          <a:xfrm>
            <a:off x="710709" y="35112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1A2B3C"/>
                </a:solidFill>
              </a:rPr>
              <a:t>L4 achieves</a:t>
            </a:r>
            <a:r>
              <a:rPr lang="pl-PL" sz="800">
                <a:solidFill>
                  <a:srgbClr val="1A2B3C"/>
                </a:solidFill>
              </a:rPr>
              <a:t> </a:t>
            </a:r>
            <a:r>
              <a:rPr lang="en-US" sz="800">
                <a:solidFill>
                  <a:srgbClr val="1A2B3C"/>
                </a:solidFill>
              </a:rPr>
              <a:t>highest </a:t>
            </a:r>
            <a:r>
              <a:rPr lang="en-US" sz="800" dirty="0">
                <a:solidFill>
                  <a:srgbClr val="1A2B3C"/>
                </a:solidFill>
              </a:rPr>
              <a:t>balanced accuracy (~83%) in </a:t>
            </a:r>
            <a:r>
              <a:rPr lang="en-US" sz="800">
                <a:solidFill>
                  <a:srgbClr val="1A2B3C"/>
                </a:solidFill>
              </a:rPr>
              <a:t>per-bin decoding</a:t>
            </a:r>
            <a:r>
              <a:rPr lang="pl-PL" sz="800">
                <a:solidFill>
                  <a:srgbClr val="1A2B3C"/>
                </a:solidFill>
              </a:rPr>
              <a:t>,</a:t>
            </a:r>
            <a:r>
              <a:rPr lang="en-US" sz="800">
                <a:solidFill>
                  <a:srgbClr val="1A2B3C"/>
                </a:solidFill>
              </a:rPr>
              <a:t> </a:t>
            </a:r>
            <a:r>
              <a:rPr lang="en-US" sz="800" dirty="0">
                <a:solidFill>
                  <a:srgbClr val="1A2B3C"/>
                </a:solidFill>
              </a:rPr>
              <a:t>consistent with its role </a:t>
            </a:r>
            <a:r>
              <a:rPr lang="en-US" sz="800">
                <a:solidFill>
                  <a:srgbClr val="1A2B3C"/>
                </a:solidFill>
              </a:rPr>
              <a:t>as gateway </a:t>
            </a:r>
            <a:r>
              <a:rPr lang="en-US" sz="800" dirty="0">
                <a:solidFill>
                  <a:srgbClr val="1A2B3C"/>
                </a:solidFill>
              </a:rPr>
              <a:t>for visual signals </a:t>
            </a:r>
            <a:r>
              <a:rPr lang="en-US" sz="800">
                <a:solidFill>
                  <a:srgbClr val="1A2B3C"/>
                </a:solidFill>
              </a:rPr>
              <a:t>into corte</a:t>
            </a:r>
            <a:r>
              <a:rPr lang="pl-PL" sz="800">
                <a:solidFill>
                  <a:srgbClr val="1A2B3C"/>
                </a:solidFill>
              </a:rPr>
              <a:t>x</a:t>
            </a:r>
            <a:endParaRPr lang="en-US" sz="8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2908B4B-8E72-3FF3-44AC-132D1C08FDE7}"/>
              </a:ext>
            </a:extLst>
          </p:cNvPr>
          <p:cNvSpPr/>
          <p:nvPr/>
        </p:nvSpPr>
        <p:spPr>
          <a:xfrm>
            <a:off x="5074920" y="3312493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63611A58-D673-7FBE-4721-6A8CF2707DDE}"/>
              </a:ext>
            </a:extLst>
          </p:cNvPr>
          <p:cNvSpPr/>
          <p:nvPr/>
        </p:nvSpPr>
        <p:spPr>
          <a:xfrm>
            <a:off x="5089267" y="3314700"/>
            <a:ext cx="64008" cy="594360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9357221-12DD-C05F-6A3E-47B09DC1106A}"/>
              </a:ext>
            </a:extLst>
          </p:cNvPr>
          <p:cNvSpPr/>
          <p:nvPr/>
        </p:nvSpPr>
        <p:spPr>
          <a:xfrm>
            <a:off x="5184648" y="3272921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4A9FD4"/>
                </a:solidFill>
              </a:rPr>
              <a:t>L</a:t>
            </a:r>
            <a:r>
              <a:rPr lang="pl-PL" sz="900" b="1">
                <a:solidFill>
                  <a:srgbClr val="4A9FD4"/>
                </a:solidFill>
              </a:rPr>
              <a:t>2/3 weaker despite similar sample size</a:t>
            </a:r>
            <a:endParaRPr lang="en-US" sz="9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37E9020-0CA9-FED2-6FA0-6A6F44A2C28F}"/>
              </a:ext>
            </a:extLst>
          </p:cNvPr>
          <p:cNvSpPr/>
          <p:nvPr/>
        </p:nvSpPr>
        <p:spPr>
          <a:xfrm>
            <a:off x="5167622" y="3474089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1A2B3C"/>
                </a:solidFill>
              </a:rPr>
              <a:t>Associative layer L2/3 falls behind despite similar sample size – information may be encoded in a less linear structure</a:t>
            </a:r>
            <a:endParaRPr lang="en-US" sz="8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293404E-2293-7200-C86E-DF7ACFEA097D}"/>
              </a:ext>
            </a:extLst>
          </p:cNvPr>
          <p:cNvSpPr/>
          <p:nvPr/>
        </p:nvSpPr>
        <p:spPr>
          <a:xfrm>
            <a:off x="5067038" y="4192524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C268C5C-B3D0-9E9D-1A87-65F8527CDD53}"/>
              </a:ext>
            </a:extLst>
          </p:cNvPr>
          <p:cNvSpPr/>
          <p:nvPr/>
        </p:nvSpPr>
        <p:spPr>
          <a:xfrm>
            <a:off x="5075551" y="4190317"/>
            <a:ext cx="64008" cy="59436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8F4DFF5E-BDAC-61B9-03A7-D3E1795AADFD}"/>
              </a:ext>
            </a:extLst>
          </p:cNvPr>
          <p:cNvSpPr/>
          <p:nvPr/>
        </p:nvSpPr>
        <p:spPr>
          <a:xfrm>
            <a:off x="5167622" y="4213177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900" b="1">
                <a:solidFill>
                  <a:schemeClr val="accent6"/>
                </a:solidFill>
              </a:rPr>
              <a:t>Full-layer analysis gives best results</a:t>
            </a:r>
            <a:endParaRPr lang="en-US" sz="900" dirty="0">
              <a:solidFill>
                <a:schemeClr val="accent6"/>
              </a:solidFill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0DE2DCF1-F742-CCB5-49C4-EE709F2E9B7E}"/>
              </a:ext>
            </a:extLst>
          </p:cNvPr>
          <p:cNvSpPr/>
          <p:nvPr/>
        </p:nvSpPr>
        <p:spPr>
          <a:xfrm>
            <a:off x="5178342" y="4399369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1A2B3C"/>
                </a:solidFill>
              </a:rPr>
              <a:t>Both PCA-50D and CEBRA-8D achieve highest accuracy and macro F1 on full data, suggesting relevance of all layers to encoding of visual information</a:t>
            </a:r>
            <a:endParaRPr lang="en-US" sz="8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B29EF72-DE0F-E351-9383-B26E913B3ECF}"/>
              </a:ext>
            </a:extLst>
          </p:cNvPr>
          <p:cNvSpPr/>
          <p:nvPr/>
        </p:nvSpPr>
        <p:spPr>
          <a:xfrm>
            <a:off x="610125" y="4190317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A88A3E0-F17C-AC7F-7EBE-8AB57F00847C}"/>
              </a:ext>
            </a:extLst>
          </p:cNvPr>
          <p:cNvSpPr/>
          <p:nvPr/>
        </p:nvSpPr>
        <p:spPr>
          <a:xfrm>
            <a:off x="623630" y="4181646"/>
            <a:ext cx="64008" cy="594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AB311C88-E79C-4F34-9210-B10D6F05CC66}"/>
              </a:ext>
            </a:extLst>
          </p:cNvPr>
          <p:cNvSpPr/>
          <p:nvPr/>
        </p:nvSpPr>
        <p:spPr>
          <a:xfrm>
            <a:off x="710709" y="4191264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900" b="1">
                <a:solidFill>
                  <a:schemeClr val="accent2"/>
                </a:solidFill>
              </a:rPr>
              <a:t>Other layers fail</a:t>
            </a:r>
            <a:endParaRPr lang="en-US" sz="900" dirty="0">
              <a:solidFill>
                <a:schemeClr val="accent2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D7703F8C-6180-DB64-A5B7-822B31647920}"/>
              </a:ext>
            </a:extLst>
          </p:cNvPr>
          <p:cNvSpPr/>
          <p:nvPr/>
        </p:nvSpPr>
        <p:spPr>
          <a:xfrm>
            <a:off x="726421" y="43924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/>
              <a:t>Small sample size of L5 and L6 sets back performance even further (L1, with only one neuron left after filtering, was not considered)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30029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3874B-7B2F-C804-8A45-75B66B05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63765C4-B149-395E-132C-969776E82241}"/>
              </a:ext>
            </a:extLst>
          </p:cNvPr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7E255C-75A8-F127-82CB-86DE2475F7DD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Discussion &amp; Conclusions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D258D1-CD2D-D3DB-81C0-C10D2216BCF1}"/>
              </a:ext>
            </a:extLst>
          </p:cNvPr>
          <p:cNvSpPr/>
          <p:nvPr/>
        </p:nvSpPr>
        <p:spPr>
          <a:xfrm>
            <a:off x="0" y="530352"/>
            <a:ext cx="9144000" cy="36576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8396F8-0CC2-C5DA-F3EA-EE3A63FD68FF}"/>
              </a:ext>
            </a:extLst>
          </p:cNvPr>
          <p:cNvSpPr/>
          <p:nvPr/>
        </p:nvSpPr>
        <p:spPr>
          <a:xfrm>
            <a:off x="32004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15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Answered </a:t>
            </a:r>
            <a:r>
              <a:rPr lang="en-US" sz="115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Research Questions</a:t>
            </a:r>
            <a:endParaRPr lang="en-US" sz="115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3C4EC71-769A-98F7-9DB2-D7806C96040D}"/>
              </a:ext>
            </a:extLst>
          </p:cNvPr>
          <p:cNvSpPr/>
          <p:nvPr/>
        </p:nvSpPr>
        <p:spPr>
          <a:xfrm>
            <a:off x="320040" y="1005840"/>
            <a:ext cx="4114800" cy="1956816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FE4D0A0-550B-F9B7-8506-7FA03EBE610F}"/>
              </a:ext>
            </a:extLst>
          </p:cNvPr>
          <p:cNvSpPr/>
          <p:nvPr/>
        </p:nvSpPr>
        <p:spPr>
          <a:xfrm>
            <a:off x="320040" y="987552"/>
            <a:ext cx="64008" cy="1956816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F81B405-9250-66DA-9E68-426D8B3A8321}"/>
              </a:ext>
            </a:extLst>
          </p:cNvPr>
          <p:cNvSpPr/>
          <p:nvPr/>
        </p:nvSpPr>
        <p:spPr>
          <a:xfrm>
            <a:off x="450715" y="11338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>
                <a:solidFill>
                  <a:srgbClr val="22A97A"/>
                </a:solidFill>
              </a:rPr>
              <a:t>Does a low-dimensional representation allow for decoding of the coarse category of visual stimulus from full-time-averages or narrow-bin averages of V1 excitatory neuron responses?</a:t>
            </a:r>
            <a:r>
              <a:rPr lang="pl-PL" sz="900" b="1">
                <a:solidFill>
                  <a:srgbClr val="22A97A"/>
                </a:solidFill>
              </a:rPr>
              <a:t> </a:t>
            </a:r>
            <a:endParaRPr lang="en-US" sz="900" i="1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9428E0F-2167-D79E-EBE1-5F115140819D}"/>
              </a:ext>
            </a:extLst>
          </p:cNvPr>
          <p:cNvSpPr/>
          <p:nvPr/>
        </p:nvSpPr>
        <p:spPr>
          <a:xfrm>
            <a:off x="450715" y="1547216"/>
            <a:ext cx="3913632" cy="1708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50">
                <a:solidFill>
                  <a:srgbClr val="B8CCE0"/>
                </a:solidFill>
              </a:rPr>
              <a:t>Yes, using temporal bins allowed dimensionality reduction through PCA and CEBRA to recover meaningful information from encoding in V1 neurons, and resulting predictions achieved up to 90% accuracy, a successful decoding of visual stimuli. With a larger dataset, even higher accuracies may be possible. </a:t>
            </a:r>
          </a:p>
          <a:p>
            <a:pPr marL="0" indent="0">
              <a:buNone/>
            </a:pPr>
            <a:endParaRPr lang="pl-PL" sz="850">
              <a:solidFill>
                <a:srgbClr val="B8CCE0"/>
              </a:solidFill>
            </a:endParaRPr>
          </a:p>
          <a:p>
            <a:pPr marL="0" indent="0">
              <a:buNone/>
            </a:pPr>
            <a:r>
              <a:rPr lang="pl-PL" sz="850">
                <a:solidFill>
                  <a:srgbClr val="B8CCE0"/>
                </a:solidFill>
              </a:rPr>
              <a:t>Using wider bins, i.e. full-time averages, was a failed approach, giving no meaningful results and preventing CEBRA from utilizing the advantages it has in the temporal setting. </a:t>
            </a:r>
          </a:p>
          <a:p>
            <a:pPr marL="0" indent="0">
              <a:buNone/>
            </a:pPr>
            <a:endParaRPr lang="en-US" sz="8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4D5E13B-C2C9-5244-2630-9454A13420EB}"/>
              </a:ext>
            </a:extLst>
          </p:cNvPr>
          <p:cNvSpPr/>
          <p:nvPr/>
        </p:nvSpPr>
        <p:spPr>
          <a:xfrm>
            <a:off x="320040" y="3101696"/>
            <a:ext cx="4114800" cy="1324000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B51D5EE-FE0D-B481-BCAF-B65AEAAE8BB7}"/>
              </a:ext>
            </a:extLst>
          </p:cNvPr>
          <p:cNvSpPr/>
          <p:nvPr/>
        </p:nvSpPr>
        <p:spPr>
          <a:xfrm>
            <a:off x="320040" y="3101696"/>
            <a:ext cx="64008" cy="1324000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06B411C-D55E-05B4-2F3D-1B0964E01F16}"/>
              </a:ext>
            </a:extLst>
          </p:cNvPr>
          <p:cNvSpPr/>
          <p:nvPr/>
        </p:nvSpPr>
        <p:spPr>
          <a:xfrm>
            <a:off x="457200" y="3105328"/>
            <a:ext cx="3913632" cy="4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22A97A"/>
                </a:solidFill>
              </a:rPr>
              <a:t>Does the L4 layer carry a stronger stimulus-category signal than other layers, and does any individual layer outperform the full-population decoder?</a:t>
            </a:r>
          </a:p>
          <a:p>
            <a:pPr marL="0" indent="0">
              <a:buNone/>
            </a:pPr>
            <a:r>
              <a:rPr lang="en-US" sz="900" b="1">
                <a:solidFill>
                  <a:srgbClr val="22A97A"/>
                </a:solidFill>
              </a:rPr>
              <a:t> </a:t>
            </a:r>
            <a:endParaRPr lang="en-US" sz="9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BF9C979-D9CD-455A-0AF9-22E1655912A0}"/>
              </a:ext>
            </a:extLst>
          </p:cNvPr>
          <p:cNvSpPr/>
          <p:nvPr/>
        </p:nvSpPr>
        <p:spPr>
          <a:xfrm>
            <a:off x="457200" y="3500660"/>
            <a:ext cx="3913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>
                <a:solidFill>
                  <a:srgbClr val="B8CCE0"/>
                </a:solidFill>
              </a:rPr>
              <a:t>Yes</a:t>
            </a:r>
            <a:r>
              <a:rPr lang="pl-PL" sz="850">
                <a:solidFill>
                  <a:srgbClr val="B8CCE0"/>
                </a:solidFill>
              </a:rPr>
              <a:t>,</a:t>
            </a:r>
            <a:r>
              <a:rPr lang="en-US" sz="850">
                <a:solidFill>
                  <a:srgbClr val="B8CCE0"/>
                </a:solidFill>
              </a:rPr>
              <a:t> </a:t>
            </a:r>
            <a:r>
              <a:rPr lang="pl-PL" sz="850">
                <a:solidFill>
                  <a:srgbClr val="B8CCE0"/>
                </a:solidFill>
              </a:rPr>
              <a:t>model evaluation showed </a:t>
            </a:r>
            <a:r>
              <a:rPr lang="en-US" sz="850">
                <a:solidFill>
                  <a:srgbClr val="B8CCE0"/>
                </a:solidFill>
              </a:rPr>
              <a:t>L4 </a:t>
            </a:r>
            <a:r>
              <a:rPr lang="pl-PL" sz="850">
                <a:solidFill>
                  <a:srgbClr val="B8CCE0"/>
                </a:solidFill>
              </a:rPr>
              <a:t>outperforming other layers, including the similarly-sized</a:t>
            </a:r>
            <a:r>
              <a:rPr lang="en-US" sz="850">
                <a:solidFill>
                  <a:srgbClr val="B8CCE0"/>
                </a:solidFill>
              </a:rPr>
              <a:t> L2/3</a:t>
            </a:r>
            <a:r>
              <a:rPr lang="pl-PL" sz="850">
                <a:solidFill>
                  <a:srgbClr val="B8CCE0"/>
                </a:solidFill>
              </a:rPr>
              <a:t>,</a:t>
            </a:r>
            <a:r>
              <a:rPr lang="en-US" sz="850">
                <a:solidFill>
                  <a:srgbClr val="B8CCE0"/>
                </a:solidFill>
              </a:rPr>
              <a:t> </a:t>
            </a:r>
            <a:r>
              <a:rPr lang="en-US" sz="850" dirty="0">
                <a:solidFill>
                  <a:srgbClr val="B8CCE0"/>
                </a:solidFill>
              </a:rPr>
              <a:t>consistent with thalamo-cortical input being the sharpest driver of stimulus category</a:t>
            </a:r>
            <a:r>
              <a:rPr lang="en-US" sz="850">
                <a:solidFill>
                  <a:srgbClr val="B8CCE0"/>
                </a:solidFill>
              </a:rPr>
              <a:t>. </a:t>
            </a:r>
            <a:r>
              <a:rPr lang="pl-PL" sz="850">
                <a:solidFill>
                  <a:srgbClr val="B8CCE0"/>
                </a:solidFill>
              </a:rPr>
              <a:t>The higher success level of the full-layer data supports the notion that neural encoding integrates all layers, rather than being concentrated in the most involved layer entirely. </a:t>
            </a:r>
            <a:endParaRPr lang="en-US" sz="8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D97AFC4-7C45-A241-C272-1FD77EEE5EA9}"/>
              </a:ext>
            </a:extLst>
          </p:cNvPr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Limitations </a:t>
            </a:r>
            <a:r>
              <a:rPr lang="en-US" sz="115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&amp; </a:t>
            </a:r>
            <a:r>
              <a:rPr lang="pl-PL" sz="115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Possible Future Expansions</a:t>
            </a:r>
            <a:endParaRPr lang="en-US" sz="115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C348203-D127-5D7F-F901-DD00EC335E44}"/>
              </a:ext>
            </a:extLst>
          </p:cNvPr>
          <p:cNvSpPr/>
          <p:nvPr/>
        </p:nvSpPr>
        <p:spPr>
          <a:xfrm>
            <a:off x="4709160" y="1005840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A3C3C42-1790-7C8A-5AE8-87DDB8725650}"/>
              </a:ext>
            </a:extLst>
          </p:cNvPr>
          <p:cNvSpPr/>
          <p:nvPr/>
        </p:nvSpPr>
        <p:spPr>
          <a:xfrm>
            <a:off x="4828032" y="1024128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59E0B"/>
                </a:solidFill>
              </a:rPr>
              <a:t>Sample </a:t>
            </a:r>
            <a:r>
              <a:rPr lang="en-US" sz="900" b="1" dirty="0">
                <a:solidFill>
                  <a:srgbClr val="F59E0B"/>
                </a:solidFill>
              </a:rPr>
              <a:t>imbalance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817D5AB-5FD9-6827-E545-EF6043562E73}"/>
              </a:ext>
            </a:extLst>
          </p:cNvPr>
          <p:cNvSpPr/>
          <p:nvPr/>
        </p:nvSpPr>
        <p:spPr>
          <a:xfrm>
            <a:off x="4828032" y="1252728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B8CCE0"/>
                </a:solidFill>
              </a:rPr>
              <a:t>Cli</a:t>
            </a:r>
            <a:r>
              <a:rPr lang="pl-PL" sz="800">
                <a:solidFill>
                  <a:srgbClr val="B8CCE0"/>
                </a:solidFill>
              </a:rPr>
              <a:t>p trials</a:t>
            </a:r>
            <a:r>
              <a:rPr lang="en-US" sz="800">
                <a:solidFill>
                  <a:srgbClr val="B8CCE0"/>
                </a:solidFill>
              </a:rPr>
              <a:t> dominate </a:t>
            </a:r>
            <a:r>
              <a:rPr lang="en-US" sz="800" dirty="0">
                <a:solidFill>
                  <a:srgbClr val="B8CCE0"/>
                </a:solidFill>
              </a:rPr>
              <a:t>(240/280 stimuli). Even with class-balanced </a:t>
            </a:r>
            <a:r>
              <a:rPr lang="en-US" sz="800">
                <a:solidFill>
                  <a:srgbClr val="B8CCE0"/>
                </a:solidFill>
              </a:rPr>
              <a:t>subsamples, </a:t>
            </a:r>
            <a:r>
              <a:rPr lang="en-US" sz="800" dirty="0">
                <a:solidFill>
                  <a:srgbClr val="B8CCE0"/>
                </a:solidFill>
              </a:rPr>
              <a:t>natural distribution inflates </a:t>
            </a:r>
            <a:r>
              <a:rPr lang="en-US" sz="800">
                <a:solidFill>
                  <a:srgbClr val="B8CCE0"/>
                </a:solidFill>
              </a:rPr>
              <a:t>majority-class accuracy</a:t>
            </a:r>
            <a:r>
              <a:rPr lang="pl-PL" sz="800">
                <a:solidFill>
                  <a:srgbClr val="B8CCE0"/>
                </a:solidFill>
              </a:rPr>
              <a:t>.</a:t>
            </a:r>
            <a:r>
              <a:rPr lang="en-US" sz="800">
                <a:solidFill>
                  <a:srgbClr val="B8CCE0"/>
                </a:solidFill>
              </a:rPr>
              <a:t> </a:t>
            </a:r>
            <a:r>
              <a:rPr lang="pl-PL" sz="800">
                <a:solidFill>
                  <a:srgbClr val="B8CCE0"/>
                </a:solidFill>
              </a:rPr>
              <a:t>F</a:t>
            </a:r>
            <a:r>
              <a:rPr lang="en-US" sz="800">
                <a:solidFill>
                  <a:srgbClr val="B8CCE0"/>
                </a:solidFill>
              </a:rPr>
              <a:t>uture </a:t>
            </a:r>
            <a:r>
              <a:rPr lang="pl-PL" sz="800">
                <a:solidFill>
                  <a:srgbClr val="B8CCE0"/>
                </a:solidFill>
              </a:rPr>
              <a:t>approaches</a:t>
            </a:r>
            <a:r>
              <a:rPr lang="en-US" sz="800">
                <a:solidFill>
                  <a:srgbClr val="B8CCE0"/>
                </a:solidFill>
              </a:rPr>
              <a:t> </a:t>
            </a:r>
            <a:r>
              <a:rPr lang="pl-PL" sz="800">
                <a:solidFill>
                  <a:srgbClr val="B8CCE0"/>
                </a:solidFill>
              </a:rPr>
              <a:t>could</a:t>
            </a:r>
            <a:r>
              <a:rPr lang="en-US" sz="800">
                <a:solidFill>
                  <a:srgbClr val="B8CCE0"/>
                </a:solidFill>
              </a:rPr>
              <a:t> oversample or use stratified generation.</a:t>
            </a:r>
            <a:endParaRPr lang="en-US" sz="8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92A7B80-1653-330F-89C8-0DFC115EE036}"/>
              </a:ext>
            </a:extLst>
          </p:cNvPr>
          <p:cNvSpPr/>
          <p:nvPr/>
        </p:nvSpPr>
        <p:spPr>
          <a:xfrm>
            <a:off x="4709160" y="1810512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9418F6A-1571-D8AE-A962-0F9DB9931B2D}"/>
              </a:ext>
            </a:extLst>
          </p:cNvPr>
          <p:cNvSpPr/>
          <p:nvPr/>
        </p:nvSpPr>
        <p:spPr>
          <a:xfrm>
            <a:off x="4828032" y="1828800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59E0B"/>
                </a:solidFill>
              </a:rPr>
              <a:t>Calcium </a:t>
            </a:r>
            <a:r>
              <a:rPr lang="en-US" sz="900" b="1" dirty="0">
                <a:solidFill>
                  <a:srgbClr val="F59E0B"/>
                </a:solidFill>
              </a:rPr>
              <a:t>imaging resolution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CA775AE-33EC-0DFB-5578-FB40D30557FE}"/>
              </a:ext>
            </a:extLst>
          </p:cNvPr>
          <p:cNvSpPr/>
          <p:nvPr/>
        </p:nvSpPr>
        <p:spPr>
          <a:xfrm>
            <a:off x="4828032" y="2057400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B8CCE0"/>
                </a:solidFill>
              </a:rPr>
              <a:t>Truly effective neural analysis may require higher time-sensitivity and finer data than offered by the methodology that created the MICrONS dataset. Bin size may still be too large to detect all meaningful changes in our improved approach.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E6F3A3D-F079-D917-AC2F-AC1BF07EF36D}"/>
              </a:ext>
            </a:extLst>
          </p:cNvPr>
          <p:cNvSpPr/>
          <p:nvPr/>
        </p:nvSpPr>
        <p:spPr>
          <a:xfrm>
            <a:off x="4709160" y="2615184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797B9BA-4310-9CDA-D84E-FBDB0AB397E2}"/>
              </a:ext>
            </a:extLst>
          </p:cNvPr>
          <p:cNvSpPr/>
          <p:nvPr/>
        </p:nvSpPr>
        <p:spPr>
          <a:xfrm>
            <a:off x="4828032" y="2633472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59E0B"/>
                </a:solidFill>
              </a:rPr>
              <a:t>Linear </a:t>
            </a:r>
            <a:r>
              <a:rPr lang="en-US" sz="900" b="1" dirty="0">
                <a:solidFill>
                  <a:srgbClr val="F59E0B"/>
                </a:solidFill>
              </a:rPr>
              <a:t>classifier only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5A94E9C-B3D8-6695-779E-FD8D2174F22E}"/>
              </a:ext>
            </a:extLst>
          </p:cNvPr>
          <p:cNvSpPr/>
          <p:nvPr/>
        </p:nvSpPr>
        <p:spPr>
          <a:xfrm>
            <a:off x="4828032" y="2862072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Logistic regression can only exploit linearly separable structure. </a:t>
            </a:r>
            <a:r>
              <a:rPr lang="en-US" sz="800">
                <a:solidFill>
                  <a:srgbClr val="B8CCE0"/>
                </a:solidFill>
              </a:rPr>
              <a:t>Non-linear </a:t>
            </a:r>
            <a:r>
              <a:rPr lang="pl-PL" sz="800">
                <a:solidFill>
                  <a:srgbClr val="B8CCE0"/>
                </a:solidFill>
              </a:rPr>
              <a:t>classifiers like SVM </a:t>
            </a:r>
            <a:r>
              <a:rPr lang="en-US" sz="800">
                <a:solidFill>
                  <a:srgbClr val="B8CCE0"/>
                </a:solidFill>
              </a:rPr>
              <a:t>might </a:t>
            </a:r>
            <a:r>
              <a:rPr lang="en-US" sz="800" dirty="0">
                <a:solidFill>
                  <a:srgbClr val="B8CCE0"/>
                </a:solidFill>
              </a:rPr>
              <a:t>reveal additional decodable information in the neural manifold.</a:t>
            </a:r>
            <a:endParaRPr lang="en-US" sz="8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8B36396-02A1-8166-1BD2-59934F8C2AE1}"/>
              </a:ext>
            </a:extLst>
          </p:cNvPr>
          <p:cNvSpPr/>
          <p:nvPr/>
        </p:nvSpPr>
        <p:spPr>
          <a:xfrm>
            <a:off x="4709160" y="3419856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769A735-1842-DF06-9A3B-64E3C27EA2BE}"/>
              </a:ext>
            </a:extLst>
          </p:cNvPr>
          <p:cNvSpPr/>
          <p:nvPr/>
        </p:nvSpPr>
        <p:spPr>
          <a:xfrm>
            <a:off x="4828032" y="3438144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4A9FD4"/>
                </a:solidFill>
              </a:rPr>
              <a:t>Within-category </a:t>
            </a:r>
            <a:r>
              <a:rPr lang="en-US" sz="900" b="1" dirty="0">
                <a:solidFill>
                  <a:srgbClr val="4A9FD4"/>
                </a:solidFill>
              </a:rPr>
              <a:t>decoding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8194670-7889-7002-BD86-C4AF62AE2BB1}"/>
              </a:ext>
            </a:extLst>
          </p:cNvPr>
          <p:cNvSpPr/>
          <p:nvPr/>
        </p:nvSpPr>
        <p:spPr>
          <a:xfrm>
            <a:off x="4828032" y="3666744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B8CCE0"/>
                </a:solidFill>
              </a:rPr>
              <a:t>A more elaborate investigation might implement the pipeline for identification of specific clip Ids or grating orientations, rather than coarse category. </a:t>
            </a:r>
            <a:endParaRPr lang="en-US" sz="8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986AFAA-6765-7781-EB76-6F740F4049FA}"/>
              </a:ext>
            </a:extLst>
          </p:cNvPr>
          <p:cNvSpPr/>
          <p:nvPr/>
        </p:nvSpPr>
        <p:spPr>
          <a:xfrm>
            <a:off x="4709160" y="4224528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A874A6E-E295-66A4-767B-CAAA9B29AEDA}"/>
              </a:ext>
            </a:extLst>
          </p:cNvPr>
          <p:cNvSpPr/>
          <p:nvPr/>
        </p:nvSpPr>
        <p:spPr>
          <a:xfrm>
            <a:off x="4828032" y="4242816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4A9FD4"/>
                </a:solidFill>
              </a:rPr>
              <a:t>Fine </a:t>
            </a:r>
            <a:r>
              <a:rPr lang="en-US" sz="900" b="1" dirty="0">
                <a:solidFill>
                  <a:srgbClr val="4A9FD4"/>
                </a:solidFill>
              </a:rPr>
              <a:t>temporal dynamics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3921E58-4F1E-92B8-D453-6EB8437E5769}"/>
              </a:ext>
            </a:extLst>
          </p:cNvPr>
          <p:cNvSpPr/>
          <p:nvPr/>
        </p:nvSpPr>
        <p:spPr>
          <a:xfrm>
            <a:off x="4828032" y="4471416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l-PL" sz="800">
                <a:solidFill>
                  <a:srgbClr val="B8CCE0"/>
                </a:solidFill>
              </a:rPr>
              <a:t>Performing dimensionality reduction on data placed in different bin sizes could reveal hidden information. There may be a meaningfully optimal bin size.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7083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4E41469-E401-25CD-B1B8-EFC7DEBBD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16" r="-1" b="9251"/>
          <a:stretch>
            <a:fillRect/>
          </a:stretch>
        </p:blipFill>
        <p:spPr bwMode="auto">
          <a:xfrm>
            <a:off x="2911927" y="10"/>
            <a:ext cx="6232072" cy="51434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63737881-458F-40AD-B72B-B57D267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3436144" cy="5143500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2967126-346F-41EA-982D-63D8EBB60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1BCD9601-1F44-4E40-998C-1B256DAE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034" name="Group 1033">
                <a:extLst>
                  <a:ext uri="{FF2B5EF4-FFF2-40B4-BE49-F238E27FC236}">
                    <a16:creationId xmlns:a16="http://schemas.microsoft.com/office/drawing/2014/main" id="{1A1CA4E9-12FA-47EB-8471-25E8D5515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038" name="Freeform: Shape 1037">
                  <a:extLst>
                    <a:ext uri="{FF2B5EF4-FFF2-40B4-BE49-F238E27FC236}">
                      <a16:creationId xmlns:a16="http://schemas.microsoft.com/office/drawing/2014/main" id="{E13A9BF0-334C-4457-A635-9CA4877EAAF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9" name="Freeform: Shape 1038">
                  <a:extLst>
                    <a:ext uri="{FF2B5EF4-FFF2-40B4-BE49-F238E27FC236}">
                      <a16:creationId xmlns:a16="http://schemas.microsoft.com/office/drawing/2014/main" id="{FF05821A-8598-44E4-A18C-538D5331E4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35" name="Group 1034">
                <a:extLst>
                  <a:ext uri="{FF2B5EF4-FFF2-40B4-BE49-F238E27FC236}">
                    <a16:creationId xmlns:a16="http://schemas.microsoft.com/office/drawing/2014/main" id="{8A4ECC81-E17F-4F87-9A0B-398363A86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036" name="Freeform: Shape 1035">
                  <a:extLst>
                    <a:ext uri="{FF2B5EF4-FFF2-40B4-BE49-F238E27FC236}">
                      <a16:creationId xmlns:a16="http://schemas.microsoft.com/office/drawing/2014/main" id="{1FBBD7D8-A895-40D0-A53D-DEDF495B2F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7" name="Freeform: Shape 1036">
                  <a:extLst>
                    <a:ext uri="{FF2B5EF4-FFF2-40B4-BE49-F238E27FC236}">
                      <a16:creationId xmlns:a16="http://schemas.microsoft.com/office/drawing/2014/main" id="{BA602493-BC70-48CF-BDBA-88A8662274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44C9B53-66DC-7E54-783C-C1860489192A}"/>
              </a:ext>
            </a:extLst>
          </p:cNvPr>
          <p:cNvSpPr txBox="1"/>
          <p:nvPr/>
        </p:nvSpPr>
        <p:spPr>
          <a:xfrm>
            <a:off x="261080" y="1746820"/>
            <a:ext cx="24531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3600" b="1">
                <a:solidFill>
                  <a:schemeClr val="bg1"/>
                </a:solidFill>
              </a:rPr>
              <a:t>Thank you for lisetning!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273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6304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7512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0" y="-182880"/>
            <a:ext cx="1463040" cy="1463040"/>
          </a:xfrm>
          <a:prstGeom prst="ellipse">
            <a:avLst/>
          </a:prstGeom>
          <a:solidFill>
            <a:srgbClr val="1A3560">
              <a:alpha val="20000"/>
            </a:srgbClr>
          </a:solidFill>
          <a:ln w="12700">
            <a:solidFill>
              <a:srgbClr val="1A356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1417320"/>
            <a:ext cx="9144000" cy="36576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Trapped in a Low Dimension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A8D0ED"/>
                </a:solidFill>
              </a:rPr>
              <a:t>Decoding Visual Stimulus Identity from V1 Population Activity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240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07D9E"/>
                </a:solidFill>
              </a:rPr>
              <a:t>MICrONS Dataset — Session 9_4  |  Two-Photon Calcium Imaging  |  Primary Visual Cortex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solidFill>
            <a:srgbClr val="122040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9FD4"/>
                </a:solidFill>
              </a:rPr>
              <a:t>579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33101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V1 excitatory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neurons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06040" y="2743200"/>
            <a:ext cx="1828800" cy="1097280"/>
          </a:xfrm>
          <a:prstGeom prst="rect">
            <a:avLst/>
          </a:prstGeom>
          <a:solidFill>
            <a:srgbClr val="122040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0604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9FD4"/>
                </a:solidFill>
              </a:rPr>
              <a:t>280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606040" y="33101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unique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stimuli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63440" y="2743200"/>
            <a:ext cx="1828800" cy="1097280"/>
          </a:xfrm>
          <a:prstGeom prst="rect">
            <a:avLst/>
          </a:prstGeom>
          <a:solidFill>
            <a:srgbClr val="122040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9FD4"/>
                </a:solidFill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63440" y="33101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stimulus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categories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720840" y="2743200"/>
            <a:ext cx="1828800" cy="1097280"/>
          </a:xfrm>
          <a:prstGeom prst="rect">
            <a:avLst/>
          </a:prstGeom>
          <a:solidFill>
            <a:srgbClr val="122040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A9FD4"/>
                </a:solidFill>
              </a:rPr>
              <a:t>~7,500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33101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temporal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8D0ED"/>
                </a:solidFill>
              </a:rPr>
              <a:t>bins (Part II)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06070"/>
                </a:solidFill>
              </a:rPr>
              <a:t>Neuroscience Project  · 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Introduction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Why decode stimulus identity from V1?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Visual Cortex as a Decoder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07008"/>
            <a:ext cx="4206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Primary visual cortex (V1) is the first cortical stage of visual processing — it transforms retinal input into a neural population code that downstream areas read out.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A central question in systems neuroscience is whether and how population activity encodes stimulus identity — not just orientation or contrast, but the coarse category of what the animal is seeing.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Two-photon calcium imaging (MICrONS dataset) lets us record hundreds of genetically identified neurons simultaneously with single-cell resolution, an approach directly connected to population coding frameworks covered in the course.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B3C"/>
                </a:solidFill>
              </a:rPr>
              <a:t>Dimensionality reduction (PCA, t-SNE, UMAP) and contrastive learning (CEBRA) are modern tools for visualising and decoding high-dimensional neural manifolds — core topics in computational neuroscience.</a:t>
            </a:r>
            <a:endParaRPr lang="en-US" sz="1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822960"/>
            <a:ext cx="3931920" cy="3017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46320" y="3840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3D anatomical positions of 728 proofreaded V1 excitatory neurons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</a:rPr>
              <a:t>coloured by cortical layer (L1–L6) — MICrONS v1718.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11480" y="4572000"/>
            <a:ext cx="832104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459943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A5FA8"/>
                </a:solidFill>
              </a:rPr>
              <a:t>Course links: population coding · neural manifolds · dimensionality reduction · decoding theory · calcium imaging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Research Questions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Three guiding hypotheses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685800"/>
            <a:ext cx="8321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685800"/>
            <a:ext cx="73152" cy="1261872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7589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5FA8"/>
                </a:solidFill>
              </a:rPr>
              <a:t>Q1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7772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1628"/>
                </a:solidFill>
              </a:rPr>
              <a:t>Stimulus Category Decoding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34440" y="114300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</a:rPr>
              <a:t>Can the coarse category of a visual stimulus (natural movie clip, Monet noise, full-field grating) be reliably decoded from the mean population response of ~579 proofreaded V1 excitatory neurons — above and beyond a trial-level shuffle baseline?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075688"/>
            <a:ext cx="8321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075688"/>
            <a:ext cx="73152" cy="1261872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A9FD4"/>
                </a:solidFill>
              </a:rPr>
              <a:t>Q2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21671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1628"/>
                </a:solidFill>
              </a:rPr>
              <a:t>Role of Temporal Structure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34440" y="2532888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</a:rPr>
              <a:t>Does retaining the temporal structure within each trial — treating every 5-frame bin as an independent observation (~7,500 bins) rather than averaging across time — improve decoding performance and allow richer manifold visualisation?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465576"/>
            <a:ext cx="8321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3465576"/>
            <a:ext cx="73152" cy="1261872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538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2A97A"/>
                </a:solidFill>
              </a:rPr>
              <a:t>Q3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355701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1628"/>
                </a:solidFill>
              </a:rPr>
              <a:t>Layer-Specific Coding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34440" y="392277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</a:rPr>
              <a:t>Does the primary thalamo-cortical input layer L4 carry a stronger stimulus-category signal than the associative layer L2/3, and does either layer outperform the full-population decoder under both trial-averaged and per-bin protocols?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Methodology — Dataset &amp; Preprocessing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MICrONS Two-Photon Calcium Imaging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685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Data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1A2B3C"/>
                </a:solidFill>
              </a:rPr>
              <a:t>MICrONS public dataset (v1718)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1A2B3C"/>
                </a:solidFill>
              </a:rPr>
              <a:t>Session 9_4  ·  Layer 2/3–6 of primary visual cortex (V1)
</a:t>
            </a:r>
            <a:endParaRPr lang="en-US" sz="980" dirty="0"/>
          </a:p>
          <a:p>
            <a:pPr marL="0" indent="0">
              <a:buNone/>
            </a:pPr>
            <a:r>
              <a:rPr lang="en-US" sz="980" b="1" dirty="0">
                <a:solidFill>
                  <a:srgbClr val="1A2B3C"/>
                </a:solidFill>
              </a:rPr>
              <a:t>Neuron selection: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1A2B3C"/>
                </a:solidFill>
              </a:rPr>
              <a:t>V1-only  ·  proofread axons (ax_clean)  ·  matched functional tuning  ·  excitatory only → 579 trusted neurons
</a:t>
            </a:r>
            <a:endParaRPr lang="en-US" sz="980" dirty="0"/>
          </a:p>
          <a:p>
            <a:pPr marL="0" indent="0">
              <a:buNone/>
            </a:pPr>
            <a:r>
              <a:rPr lang="en-US" sz="980" b="1" dirty="0">
                <a:solidFill>
                  <a:srgbClr val="1A2B3C"/>
                </a:solidFill>
              </a:rPr>
              <a:t>Stimulus set: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1A2B3C"/>
                </a:solidFill>
              </a:rPr>
              <a:t>280 unique stimuli across 464 trials — natural movie clips (240), Monet2 noise (20), Trippy gratings (20)
</a:t>
            </a:r>
            <a:endParaRPr lang="en-US" sz="980" dirty="0"/>
          </a:p>
          <a:p>
            <a:pPr marL="0" indent="0">
              <a:buNone/>
            </a:pPr>
            <a:r>
              <a:rPr lang="en-US" sz="980" b="1" dirty="0">
                <a:solidFill>
                  <a:srgbClr val="1A2B3C"/>
                </a:solidFill>
              </a:rPr>
              <a:t>Preprocessing pipeline: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1A2B3C"/>
                </a:solidFill>
              </a:rPr>
              <a:t>① Remove neurons with &gt;10% NaN  ② Impute remaining NaNs with column means  ③ Drop constant-response stimuli  ④ StandardScaler (zero mean, unit variance)  ⑤ Class-balanced subsample (20 per class)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411480" y="4069080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4114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579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neurons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(V1 excit.)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48840" y="4069080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48840" y="4114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280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48840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unique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stimuli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86200" y="4069080"/>
            <a:ext cx="16459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86200" y="4114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A8"/>
                </a:solidFill>
              </a:rPr>
              <a:t>464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886200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total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trials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92040" y="685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</a:rPr>
              <a:t>Neuron Layer Distribution</a:t>
            </a:r>
            <a:endParaRPr lang="en-US" sz="11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4892040" y="987552"/>
          <a:ext cx="38404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4892040" y="31821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Layer L4 is the primary thalamo-cortical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input; L2/3 is the main downstream associative layer.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892040" y="3749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Stimulus Category Distribution</a:t>
            </a:r>
            <a:endParaRPr lang="en-US" sz="1000" dirty="0"/>
          </a:p>
        </p:txBody>
      </p:sp>
      <p:graphicFrame>
        <p:nvGraphicFramePr>
          <p:cNvPr id="20" name="Chart 1"/>
          <p:cNvGraphicFramePr/>
          <p:nvPr/>
        </p:nvGraphicFramePr>
        <p:xfrm>
          <a:off x="4892040" y="4005072"/>
          <a:ext cx="3840480" cy="8778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84B0B8-8435-2A36-8F53-DB03907A8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2F70A7-1714-E5A9-9B0E-E855034C10B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CFAD66-A5F0-B4C9-E9E5-F18940B95902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Methodology — Analysis Pipeline</a:t>
            </a:r>
            <a:endParaRPr lang="en-US" sz="1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417596-248E-1558-B90C-C737BE733E67}"/>
              </a:ext>
            </a:extLst>
          </p:cNvPr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Two-phase investigation: trial-averaged vs. per-bin temporal decoding</a:t>
            </a:r>
            <a:endParaRPr lang="en-US" sz="9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527B407-1C8B-87B9-F9E8-AC151F2BC0F4}"/>
              </a:ext>
            </a:extLst>
          </p:cNvPr>
          <p:cNvSpPr/>
          <p:nvPr/>
        </p:nvSpPr>
        <p:spPr>
          <a:xfrm>
            <a:off x="274320" y="658368"/>
            <a:ext cx="411480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474B733-185B-C2E8-92A6-F2D74A26F2B2}"/>
              </a:ext>
            </a:extLst>
          </p:cNvPr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solidFill>
            <a:srgbClr val="1A5F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PART I — Trial-Averaged</a:t>
            </a:r>
            <a:endParaRPr lang="en-US" sz="11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2ACDD56-C00F-5B1E-53A0-1485A19712DF}"/>
              </a:ext>
            </a:extLst>
          </p:cNvPr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7878D7B-A433-C309-0035-F02D7A14D2CD}"/>
              </a:ext>
            </a:extLst>
          </p:cNvPr>
          <p:cNvSpPr/>
          <p:nvPr/>
        </p:nvSpPr>
        <p:spPr>
          <a:xfrm>
            <a:off x="274320" y="6583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PART I — Trial-Averaged</a:t>
            </a:r>
            <a:endParaRPr lang="en-US" sz="11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E0E4D97-AB7E-376E-B6D8-6EF081791242}"/>
              </a:ext>
            </a:extLst>
          </p:cNvPr>
          <p:cNvSpPr/>
          <p:nvPr/>
        </p:nvSpPr>
        <p:spPr>
          <a:xfrm>
            <a:off x="411480" y="1143000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0E92861-ACD9-44A4-65B7-35F91063586A}"/>
              </a:ext>
            </a:extLst>
          </p:cNvPr>
          <p:cNvSpPr/>
          <p:nvPr/>
        </p:nvSpPr>
        <p:spPr>
          <a:xfrm>
            <a:off x="41148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①</a:t>
            </a: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350AB17-5800-6E24-DF00-F51FC75A9EFB}"/>
              </a:ext>
            </a:extLst>
          </p:cNvPr>
          <p:cNvSpPr/>
          <p:nvPr/>
        </p:nvSpPr>
        <p:spPr>
          <a:xfrm>
            <a:off x="768096" y="1143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Average all trial repetitions &amp; all frames per unique stimulus hash → 280 × 579 response matrix</a:t>
            </a:r>
            <a:endParaRPr lang="en-US" sz="9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C035192-675F-C69E-C149-C4FAF992C35E}"/>
              </a:ext>
            </a:extLst>
          </p:cNvPr>
          <p:cNvSpPr/>
          <p:nvPr/>
        </p:nvSpPr>
        <p:spPr>
          <a:xfrm>
            <a:off x="411480" y="1837944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0AFA00-A7F2-AD09-AE23-97407F31935A}"/>
              </a:ext>
            </a:extLst>
          </p:cNvPr>
          <p:cNvSpPr/>
          <p:nvPr/>
        </p:nvSpPr>
        <p:spPr>
          <a:xfrm>
            <a:off x="41148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②</a:t>
            </a:r>
            <a:endParaRPr lang="en-US" sz="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E78B117-D959-FC18-6DE5-BBB83FBB2606}"/>
              </a:ext>
            </a:extLst>
          </p:cNvPr>
          <p:cNvSpPr/>
          <p:nvPr/>
        </p:nvSpPr>
        <p:spPr>
          <a:xfrm>
            <a:off x="768096" y="183794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Apply PCA, t-SNE (perp 15/30/50), UMAP (nn 5/15/50), CEBRA on 2D embeddings</a:t>
            </a:r>
            <a:endParaRPr lang="en-US" sz="9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59B6CA1-5FBF-6B5D-45C1-C8C8AC687221}"/>
              </a:ext>
            </a:extLst>
          </p:cNvPr>
          <p:cNvSpPr/>
          <p:nvPr/>
        </p:nvSpPr>
        <p:spPr>
          <a:xfrm>
            <a:off x="411480" y="2532888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A4CEC54-0CF4-D325-5491-0893C5940018}"/>
              </a:ext>
            </a:extLst>
          </p:cNvPr>
          <p:cNvSpPr/>
          <p:nvPr/>
        </p:nvSpPr>
        <p:spPr>
          <a:xfrm>
            <a:off x="411480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③</a:t>
            </a:r>
            <a:endParaRPr lang="en-US" sz="8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7E5295C-4FA9-2379-D5D5-C46DC3ED102F}"/>
              </a:ext>
            </a:extLst>
          </p:cNvPr>
          <p:cNvSpPr/>
          <p:nvPr/>
        </p:nvSpPr>
        <p:spPr>
          <a:xfrm>
            <a:off x="768096" y="25328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StratifiedKFold(n=5) logistic regression on 2D coords — balanced accuracy &amp; macro F1</a:t>
            </a:r>
            <a:endParaRPr lang="en-US" sz="9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4D9D988-C3A9-9B54-2AEF-0A1E33F5CB98}"/>
              </a:ext>
            </a:extLst>
          </p:cNvPr>
          <p:cNvSpPr/>
          <p:nvPr/>
        </p:nvSpPr>
        <p:spPr>
          <a:xfrm>
            <a:off x="411480" y="3227832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636A393-2EBC-492E-AB55-8B971BCA3CCE}"/>
              </a:ext>
            </a:extLst>
          </p:cNvPr>
          <p:cNvSpPr/>
          <p:nvPr/>
        </p:nvSpPr>
        <p:spPr>
          <a:xfrm>
            <a:off x="41148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④</a:t>
            </a:r>
            <a:endParaRPr lang="en-US" sz="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FE561ED-2C25-69C5-EB11-3006D7B54F85}"/>
              </a:ext>
            </a:extLst>
          </p:cNvPr>
          <p:cNvSpPr/>
          <p:nvPr/>
        </p:nvSpPr>
        <p:spPr>
          <a:xfrm>
            <a:off x="768096" y="32278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Shuffle control: permute stimulus labels 100× at stimulus level → empirical null (p-value)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216F9AE-587E-4956-A2DB-F3B0F31F3100}"/>
              </a:ext>
            </a:extLst>
          </p:cNvPr>
          <p:cNvSpPr/>
          <p:nvPr/>
        </p:nvSpPr>
        <p:spPr>
          <a:xfrm>
            <a:off x="411480" y="3922776"/>
            <a:ext cx="292608" cy="292608"/>
          </a:xfrm>
          <a:prstGeom prst="ellipse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FF2623-7793-9369-4AC3-C8C98B9DDE72}"/>
              </a:ext>
            </a:extLst>
          </p:cNvPr>
          <p:cNvSpPr/>
          <p:nvPr/>
        </p:nvSpPr>
        <p:spPr>
          <a:xfrm>
            <a:off x="411480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⑤</a:t>
            </a:r>
            <a:endParaRPr lang="en-US" sz="8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44056AA-E640-CBA4-AF57-57D535C2F244}"/>
              </a:ext>
            </a:extLst>
          </p:cNvPr>
          <p:cNvSpPr/>
          <p:nvPr/>
        </p:nvSpPr>
        <p:spPr>
          <a:xfrm>
            <a:off x="768096" y="39227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Layer sub-analysis: repeat pipeline for L4 (257 neurons) and L2/3 (220 neurons) separately</a:t>
            </a:r>
            <a:endParaRPr lang="en-US" sz="9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A4DDAD2-30E1-936A-2E9C-1A780028D29F}"/>
              </a:ext>
            </a:extLst>
          </p:cNvPr>
          <p:cNvSpPr/>
          <p:nvPr/>
        </p:nvSpPr>
        <p:spPr>
          <a:xfrm>
            <a:off x="411480" y="4526280"/>
            <a:ext cx="3794760" cy="274320"/>
          </a:xfrm>
          <a:prstGeom prst="rect">
            <a:avLst/>
          </a:prstGeom>
          <a:solidFill>
            <a:srgbClr val="E8F0FA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99608A7-8DC9-830D-78EB-11897E8463B7}"/>
              </a:ext>
            </a:extLst>
          </p:cNvPr>
          <p:cNvSpPr/>
          <p:nvPr/>
        </p:nvSpPr>
        <p:spPr>
          <a:xfrm>
            <a:off x="411480" y="45262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5252"/>
                </a:solidFill>
              </a:rPr>
              <a:t>⚠ Leakage: UMAP/t-SNE fitted on all data before CV split</a:t>
            </a:r>
            <a:endParaRPr lang="en-US" sz="8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F8EC8D8-75DB-6BA5-0DF1-E9753E1D0079}"/>
              </a:ext>
            </a:extLst>
          </p:cNvPr>
          <p:cNvSpPr/>
          <p:nvPr/>
        </p:nvSpPr>
        <p:spPr>
          <a:xfrm>
            <a:off x="4754880" y="658368"/>
            <a:ext cx="4114800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5F7D0BC-6D50-ED01-5EC9-5070B16F6B55}"/>
              </a:ext>
            </a:extLst>
          </p:cNvPr>
          <p:cNvSpPr/>
          <p:nvPr/>
        </p:nvSpPr>
        <p:spPr>
          <a:xfrm>
            <a:off x="4754880" y="658368"/>
            <a:ext cx="4114800" cy="365760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BF8E17C-A9FE-D7FB-D73B-64266FE22BC5}"/>
              </a:ext>
            </a:extLst>
          </p:cNvPr>
          <p:cNvSpPr/>
          <p:nvPr/>
        </p:nvSpPr>
        <p:spPr>
          <a:xfrm>
            <a:off x="4754880" y="6583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PART II — Per-Bin Temporal</a:t>
            </a:r>
            <a:endParaRPr lang="en-US" sz="11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AF0C091-D39A-D261-EAE4-C1ADC1B58C70}"/>
              </a:ext>
            </a:extLst>
          </p:cNvPr>
          <p:cNvSpPr/>
          <p:nvPr/>
        </p:nvSpPr>
        <p:spPr>
          <a:xfrm>
            <a:off x="4892040" y="1143000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56A0DD0-32BE-7225-74E9-AEFCAA1310A6}"/>
              </a:ext>
            </a:extLst>
          </p:cNvPr>
          <p:cNvSpPr/>
          <p:nvPr/>
        </p:nvSpPr>
        <p:spPr>
          <a:xfrm>
            <a:off x="489204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①</a:t>
            </a:r>
            <a:endParaRPr lang="en-US" sz="8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33F9D09F-3A5C-C34A-3054-8407A2CCE847}"/>
              </a:ext>
            </a:extLst>
          </p:cNvPr>
          <p:cNvSpPr/>
          <p:nvPr/>
        </p:nvSpPr>
        <p:spPr>
          <a:xfrm>
            <a:off x="5248656" y="1143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Segment each trial into 5-frame bins → ~7,520 samples (bin × neurons matrix)</a:t>
            </a:r>
            <a:endParaRPr lang="en-US" sz="9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9EB3E3BA-4432-D26E-E089-7311E6320C7E}"/>
              </a:ext>
            </a:extLst>
          </p:cNvPr>
          <p:cNvSpPr/>
          <p:nvPr/>
        </p:nvSpPr>
        <p:spPr>
          <a:xfrm>
            <a:off x="4892040" y="1837944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BA8C74C-689F-3BF7-6C00-7DE04B0539A5}"/>
              </a:ext>
            </a:extLst>
          </p:cNvPr>
          <p:cNvSpPr/>
          <p:nvPr/>
        </p:nvSpPr>
        <p:spPr>
          <a:xfrm>
            <a:off x="489204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②</a:t>
            </a:r>
            <a:endParaRPr lang="en-US" sz="8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E21BF04-512D-C266-FF3B-21A174D9D648}"/>
              </a:ext>
            </a:extLst>
          </p:cNvPr>
          <p:cNvSpPr/>
          <p:nvPr/>
        </p:nvSpPr>
        <p:spPr>
          <a:xfrm>
            <a:off x="5248656" y="183794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GroupKFold(n=5, groups=trial_id) — test bins never share a trial with training bins (no leakage)</a:t>
            </a:r>
            <a:endParaRPr lang="en-US" sz="9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D2AC3B79-53E0-0CBA-20D5-781D1375D790}"/>
              </a:ext>
            </a:extLst>
          </p:cNvPr>
          <p:cNvSpPr/>
          <p:nvPr/>
        </p:nvSpPr>
        <p:spPr>
          <a:xfrm>
            <a:off x="4892040" y="2532888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CE80D1F-D717-18BD-9351-B611B22401F4}"/>
              </a:ext>
            </a:extLst>
          </p:cNvPr>
          <p:cNvSpPr/>
          <p:nvPr/>
        </p:nvSpPr>
        <p:spPr>
          <a:xfrm>
            <a:off x="4892040" y="2532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③</a:t>
            </a:r>
            <a:endParaRPr lang="en-US" sz="8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A747676-D69A-1E16-41D0-E582237EF486}"/>
              </a:ext>
            </a:extLst>
          </p:cNvPr>
          <p:cNvSpPr/>
          <p:nvPr/>
        </p:nvSpPr>
        <p:spPr>
          <a:xfrm>
            <a:off x="5248656" y="25328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Inside each fold: impute → scale → PCA  then evaluate PCA-2D, PCA-50D, UMAP-2D, CEBRA-8D</a:t>
            </a:r>
            <a:endParaRPr lang="en-US" sz="9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68AEF43-4EFE-11AF-4A48-660D72323DE5}"/>
              </a:ext>
            </a:extLst>
          </p:cNvPr>
          <p:cNvSpPr/>
          <p:nvPr/>
        </p:nvSpPr>
        <p:spPr>
          <a:xfrm>
            <a:off x="4892040" y="3227832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60379B9-A4D0-909E-5159-523177604CD3}"/>
              </a:ext>
            </a:extLst>
          </p:cNvPr>
          <p:cNvSpPr/>
          <p:nvPr/>
        </p:nvSpPr>
        <p:spPr>
          <a:xfrm>
            <a:off x="489204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④</a:t>
            </a:r>
            <a:endParaRPr lang="en-US" sz="8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7939A70-EC8D-A8F7-1DF7-302FBAF68E77}"/>
              </a:ext>
            </a:extLst>
          </p:cNvPr>
          <p:cNvSpPr/>
          <p:nvPr/>
        </p:nvSpPr>
        <p:spPr>
          <a:xfrm>
            <a:off x="5248656" y="32278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Shuffle control: permute labels at the trial level (all bins of a trial get same shuffled label)</a:t>
            </a:r>
            <a:endParaRPr lang="en-US" sz="9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E801CFA-6109-1587-0EC9-29C7F9AB1CF4}"/>
              </a:ext>
            </a:extLst>
          </p:cNvPr>
          <p:cNvSpPr/>
          <p:nvPr/>
        </p:nvSpPr>
        <p:spPr>
          <a:xfrm>
            <a:off x="4892040" y="3922776"/>
            <a:ext cx="292608" cy="292608"/>
          </a:xfrm>
          <a:prstGeom prst="ellipse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A7A7080B-1D85-B9C6-2D46-42E889E274A2}"/>
              </a:ext>
            </a:extLst>
          </p:cNvPr>
          <p:cNvSpPr/>
          <p:nvPr/>
        </p:nvSpPr>
        <p:spPr>
          <a:xfrm>
            <a:off x="4892040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⑤</a:t>
            </a:r>
            <a:endParaRPr lang="en-US" sz="8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16515E59-4877-B05A-DD2F-23D2E5491476}"/>
              </a:ext>
            </a:extLst>
          </p:cNvPr>
          <p:cNvSpPr/>
          <p:nvPr/>
        </p:nvSpPr>
        <p:spPr>
          <a:xfrm>
            <a:off x="5248656" y="39227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</a:rPr>
              <a:t>Layer sub-analysis: repeat for L2/3 (220), L4 (257), L5 (89) separately with CEBRA</a:t>
            </a:r>
            <a:endParaRPr lang="en-US" sz="9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05309E23-5A6A-66BA-BF36-9B3BA2A3BF6C}"/>
              </a:ext>
            </a:extLst>
          </p:cNvPr>
          <p:cNvSpPr/>
          <p:nvPr/>
        </p:nvSpPr>
        <p:spPr>
          <a:xfrm>
            <a:off x="4892040" y="4526280"/>
            <a:ext cx="3794760" cy="274320"/>
          </a:xfrm>
          <a:prstGeom prst="rect">
            <a:avLst/>
          </a:prstGeom>
          <a:solidFill>
            <a:srgbClr val="E8F5EE"/>
          </a:solidFill>
          <a:ln w="12700">
            <a:solidFill>
              <a:srgbClr val="B7DF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CCC23A9-D8AB-66D8-08BA-0FD472911BEB}"/>
              </a:ext>
            </a:extLst>
          </p:cNvPr>
          <p:cNvSpPr/>
          <p:nvPr/>
        </p:nvSpPr>
        <p:spPr>
          <a:xfrm>
            <a:off x="4892040" y="45262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22A97A"/>
                </a:solidFill>
              </a:rPr>
              <a:t>✓ Fully leakage-free: all DR fitted inside CV fold</a:t>
            </a:r>
            <a:endParaRPr lang="en-US" sz="8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255DE9CA-7810-E91E-6CBD-CF7F773A2D83}"/>
              </a:ext>
            </a:extLst>
          </p:cNvPr>
          <p:cNvSpPr/>
          <p:nvPr/>
        </p:nvSpPr>
        <p:spPr>
          <a:xfrm>
            <a:off x="4407408" y="2377440"/>
            <a:ext cx="329184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3BA59226-50A6-83E5-0618-1B42CC46E6D2}"/>
              </a:ext>
            </a:extLst>
          </p:cNvPr>
          <p:cNvSpPr/>
          <p:nvPr/>
        </p:nvSpPr>
        <p:spPr>
          <a:xfrm>
            <a:off x="4389120" y="224028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64748B"/>
                </a:solidFill>
              </a:rPr>
              <a:t>fixes →</a:t>
            </a:r>
            <a:endParaRPr lang="en-US" sz="600" dirty="0"/>
          </a:p>
        </p:txBody>
      </p:sp>
    </p:spTree>
    <p:extLst>
      <p:ext uri="{BB962C8B-B14F-4D97-AF65-F5344CB8AC3E}">
        <p14:creationId xmlns:p14="http://schemas.microsoft.com/office/powerpoint/2010/main" val="135690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Results — Part I: Dimensionality Reduction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Trial-averaged embeddings coloured by stimulus category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21792"/>
            <a:ext cx="5486400" cy="1554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148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PCA · t-SNE (perp=30) · UMAP (nn=15) · CEBRA — 2D embeddings on 280 trial-averaged stimuli</a:t>
            </a:r>
            <a:endParaRPr lang="en-US" sz="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320" y="2395728"/>
            <a:ext cx="5486400" cy="21031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43600" y="685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</a:rPr>
              <a:t>Classification Performance (Balanced Acc.)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005840"/>
          <a:ext cx="2926080" cy="1645920"/>
        </p:xfrm>
        <a:graphic>
          <a:graphicData uri="http://schemas.openxmlformats.org/drawingml/2006/table">
            <a:tbl>
              <a:tblPr/>
              <a:tblGrid>
                <a:gridCol w="975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Bal. Acc.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4748B"/>
                          </a:solidFill>
                        </a:rPr>
                        <a:t>Chance (1/3)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i="1" dirty="0">
                          <a:solidFill>
                            <a:srgbClr val="64748B"/>
                          </a:solidFill>
                        </a:rPr>
                        <a:t>0.333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i="1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PCA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0.465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0.364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t-SNE (p=30)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0.401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0.339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UMAP (nn=15)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0.515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0.471 ***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CEBRA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0.274  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0.185  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943600" y="2944368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943600" y="2944368"/>
            <a:ext cx="64008" cy="603504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6080760" y="2962656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FA8"/>
                </a:solidFill>
              </a:rPr>
              <a:t>UMAP leads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6080760" y="3163824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UMAP (nn=15) achieves the highest balanced accuracy of 0.515 — significantly above the 0.333 chance level (p &lt; 0.001).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5943600" y="3621024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5943600" y="3621024"/>
            <a:ext cx="64008" cy="603504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6080760" y="3639312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5252"/>
                </a:solidFill>
              </a:rPr>
              <a:t>CEBRA fails here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080760" y="38404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With only 100 samples, CEBRA finds no structure (0.274, ns). It needs temporal data — fixed in Part II.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5943600" y="4297680"/>
            <a:ext cx="29260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943600" y="4297680"/>
            <a:ext cx="64008" cy="603504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080760" y="431596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PCA participation ratio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080760" y="451713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Effective dimensionality = 47.2 PCs. 82 PCs needed for 80% variance — V1 activity lives in a high-dimensional space.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Results — Shuffle Controls &amp; Layer Analysis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Significance testing and cortical layer breakdown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6583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</a:rPr>
              <a:t>Part I — Shuffle Control Results (100 permutations)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5303520" cy="1828800"/>
        </p:xfrm>
        <a:graphic>
          <a:graphicData uri="http://schemas.openxmlformats.org/drawingml/2006/table">
            <a:tbl>
              <a:tblPr/>
              <a:tblGrid>
                <a:gridCol w="1060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Real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Null mean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Sig.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PCA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Bal. Acc.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0.465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0.335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2A97A"/>
                          </a:solidFill>
                        </a:rPr>
                        <a:t>***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PCA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Macro F1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0.364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0.232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2A97A"/>
                          </a:solidFill>
                        </a:rPr>
                        <a:t>***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t-SNE (p=30)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Bal. Acc.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0.401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0.345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2A97A"/>
                          </a:solidFill>
                        </a:rPr>
                        <a:t>***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UMAP (nn=15)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Bal. Acc.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0.515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0.320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2A97A"/>
                          </a:solidFill>
                        </a:rPr>
                        <a:t>***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UMAP (nn=15)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Macro F1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0.471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0.215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2A97A"/>
                          </a:solidFill>
                        </a:rPr>
                        <a:t>***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CEBRA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Bal. Acc.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0.274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0.330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05252"/>
                          </a:solidFill>
                        </a:rPr>
                        <a:t>ns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CEBRA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Macro F1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0.185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B3C"/>
                          </a:solidFill>
                        </a:rPr>
                        <a:t>0.225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05252"/>
                          </a:solidFill>
                        </a:rPr>
                        <a:t>ns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299923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*** p &lt; 0.001 one-sided t-test vs shuffle null  ·  ns = not significant</a:t>
            </a:r>
            <a:endParaRPr lang="en-US" sz="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3218688"/>
            <a:ext cx="5303520" cy="1645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0040" y="484632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Three-way: All neurons vs L4 vs L2/3 — Part I balanced accuracy and F1 by method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5806440" y="658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</a:rPr>
              <a:t>Layer-Specific Findings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806440" y="987552"/>
          <a:ext cx="310896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Shape 7"/>
          <p:cNvSpPr/>
          <p:nvPr/>
        </p:nvSpPr>
        <p:spPr>
          <a:xfrm>
            <a:off x="5806440" y="3429000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5806440" y="3429000"/>
            <a:ext cx="64008" cy="713232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5943600" y="344728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FA8"/>
                </a:solidFill>
              </a:rPr>
              <a:t>L4 &gt; All neurons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5943600" y="3675888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L4 (primary thalamic input) outperforms full population on PCA (+5.4%) and UMAP (+4.3%), consistent with L4 carrying a sharper visual drive.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806440" y="4233672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5806440" y="4233672"/>
            <a:ext cx="64008" cy="713232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5943600" y="42519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L2/3 mixed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5943600" y="4480560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L2/3 matches L4 on PCA F1 but falls behind on UMAP — higher recurrent connectivity may spread information across dimensions differently.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Results — Part II: Temporal Binning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GroupKFold cross-validation on ~7,500 per-bin samples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621792"/>
            <a:ext cx="8503920" cy="658368"/>
          </a:xfrm>
          <a:prstGeom prst="rect">
            <a:avLst/>
          </a:prstGeom>
          <a:solidFill>
            <a:srgbClr val="EAF4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640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FA8"/>
                </a:solidFill>
              </a:rPr>
              <a:t>PCA-50D achieves 81.3% balanced accuracy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" y="950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A2B3C"/>
                </a:solidFill>
              </a:rPr>
              <a:t>up from 46.5% in Part I — temporal binning provides ~7,500 samples and leakage-free GroupKFold evaluation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35024"/>
            <a:ext cx="5303520" cy="1920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324612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Confusion matrices for PCA-2D, PCA-50D, UMAP-2D, CEBRA-8D — GroupKFold per trial</a:t>
            </a:r>
            <a:endParaRPr lang="en-US" sz="7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0040" y="3456432"/>
            <a:ext cx="2560320" cy="1463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Part II shuffle null</a:t>
            </a:r>
            <a:endParaRPr lang="en-US" sz="750" dirty="0"/>
          </a:p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(trial-level permutation)</a:t>
            </a:r>
            <a:endParaRPr lang="en-US" sz="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17520" y="3456432"/>
            <a:ext cx="2606040" cy="1463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017520" y="48920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Part II PCA scree — effective dim 212</a:t>
            </a:r>
            <a:endParaRPr lang="en-US" sz="750" dirty="0"/>
          </a:p>
        </p:txBody>
      </p:sp>
      <p:sp>
        <p:nvSpPr>
          <p:cNvPr id="14" name="Text 9"/>
          <p:cNvSpPr/>
          <p:nvPr/>
        </p:nvSpPr>
        <p:spPr>
          <a:xfrm>
            <a:off x="5806440" y="658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</a:rPr>
              <a:t>Part I vs Part II: Balanced Accuracy</a:t>
            </a:r>
            <a:endParaRPr lang="en-US" sz="105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806440" y="960120"/>
          <a:ext cx="310896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6" name="Text 10"/>
          <p:cNvSpPr/>
          <p:nvPr/>
        </p:nvSpPr>
        <p:spPr>
          <a:xfrm>
            <a:off x="5806440" y="32735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Note: PCA-50D (main metric) achieves 0.813 in Part II;</a:t>
            </a:r>
            <a:endParaRPr lang="en-US" sz="750" dirty="0"/>
          </a:p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PCA-2D shown for fair comparison vs Part I 2D results.</a:t>
            </a:r>
            <a:endParaRPr lang="en-US" sz="750" dirty="0"/>
          </a:p>
        </p:txBody>
      </p:sp>
      <p:sp>
        <p:nvSpPr>
          <p:cNvPr id="17" name="Text 11"/>
          <p:cNvSpPr/>
          <p:nvPr/>
        </p:nvSpPr>
        <p:spPr>
          <a:xfrm>
            <a:off x="5806440" y="3712464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Part II — GroupKFold Results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3977640"/>
          <a:ext cx="3108960" cy="1066800"/>
        </p:xfrm>
        <a:graphic>
          <a:graphicData uri="http://schemas.openxmlformats.org/drawingml/2006/table">
            <a:tbl>
              <a:tblPr/>
              <a:tblGrid>
                <a:gridCol w="103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Bal. Acc.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7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i="1" dirty="0">
                          <a:solidFill>
                            <a:srgbClr val="64748B"/>
                          </a:solidFill>
                        </a:rPr>
                        <a:t>Chance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i="1" dirty="0">
                          <a:solidFill>
                            <a:srgbClr val="64748B"/>
                          </a:solidFill>
                        </a:rPr>
                        <a:t>0.333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PCA-2D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0.457 ± 0.038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0.378 ± 0.028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A5FA8"/>
                          </a:solidFill>
                        </a:rPr>
                        <a:t>PCA-50D ✓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5FA8"/>
                          </a:solidFill>
                        </a:rPr>
                        <a:t>0.813 ± 0.021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5FA8"/>
                          </a:solidFill>
                        </a:rPr>
                        <a:t>0.740 ± 0.021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UMAP-2D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0.385 ± 0.033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0.350 ± 0.030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Results — Layer-Specific Analysis (Part II)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D0ED"/>
                </a:solidFill>
              </a:rPr>
              <a:t>Per-bin GroupKFold decoding restricted to individual cortical layers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603504"/>
            <a:ext cx="8595360" cy="2194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77977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PCA-50D, UMAP-2D, CEBRA-8D — GroupKFold balanced accuracy and F1 broken down by cortical layer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320040" y="3017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Balanced Accuracy by Layer — PCA-50D (Part II)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320040" y="3291840"/>
          <a:ext cx="457200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4782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4748B"/>
                </a:solidFill>
              </a:rPr>
              <a:t>* Approximate values estimated from layer analysis results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74920" y="3017520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5074920" y="3017520"/>
            <a:ext cx="64008" cy="594360"/>
          </a:xfrm>
          <a:prstGeom prst="rect">
            <a:avLst/>
          </a:prstGeom>
          <a:solidFill>
            <a:srgbClr val="1A5FA8"/>
          </a:solidFill>
          <a:ln w="12700">
            <a:solidFill>
              <a:srgbClr val="1A5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212080" y="3035808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FA8"/>
                </a:solidFill>
              </a:rPr>
              <a:t>L4 leads across layers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212080" y="32461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L4 (primary thalamic input, 257 neurons) achieves the highest balanced accuracy (~83%) in per-bin decoding — consistent with its role as the gateway for visual signals into cortex.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5074920" y="3694176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074920" y="3694176"/>
            <a:ext cx="64008" cy="594360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212080" y="3712464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L5 punches above weight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212080" y="392277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L5 (only 89 neurons) performs surprisingly well (~79%), suggesting it carries a more concentrated or efficient stimulus-category representation.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5074920" y="4370832"/>
            <a:ext cx="3749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074920" y="4370832"/>
            <a:ext cx="64008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212080" y="4389120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L2/3 lower (~76%)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5212080" y="45994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A2B3C"/>
                </a:solidFill>
              </a:rPr>
              <a:t>The associative layer L2/3 (220 neurons) falls behind despite more cells — its richer recurrent connectivity may distribute information in a way that makes simple linear decoding harder.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274F"/>
          </a:solidFill>
          <a:ln w="12700">
            <a:solidFill>
              <a:srgbClr val="1227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Discussion &amp; Conclusions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530352"/>
            <a:ext cx="9144000" cy="36576"/>
          </a:xfrm>
          <a:prstGeom prst="rect">
            <a:avLst/>
          </a:prstGeom>
          <a:solidFill>
            <a:srgbClr val="4A9FD4"/>
          </a:solidFill>
          <a:ln w="12700">
            <a:solidFill>
              <a:srgbClr val="4A9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D0ED"/>
                </a:solidFill>
              </a:rPr>
              <a:t>Research Questions — Answered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4114800" cy="107899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64008" cy="1078992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2412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A97A"/>
                </a:solidFill>
              </a:rPr>
              <a:t>Q1: Can V1 population decode stimulus category?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280160"/>
            <a:ext cx="3913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CE0"/>
                </a:solidFill>
              </a:rPr>
              <a:t>Yes — PCA and UMAP are significantly above chance (p &lt; 0.001). However, the modest effect sizes (46-52% balanced acc in Part I; up to 81% in Part II with 50 PCs) suggest that coarse category is decodable but not trivially so from mean-rate V1.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2176272"/>
            <a:ext cx="4114800" cy="107899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2176272"/>
            <a:ext cx="64008" cy="1078992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A97A"/>
                </a:solidFill>
              </a:rPr>
              <a:t>Q2: Does temporal structure improve decoding?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450592"/>
            <a:ext cx="3913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CE0"/>
                </a:solidFill>
              </a:rPr>
              <a:t>Strongly yes. Temporal binning increased sample size from ~100 to ~7,500, enabling PCA-50D to reach 81.3% balanced accuracy — a +35% gain. It also enabled CEBRA to work at all, and eliminated leakage via GroupKFold.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0040" y="3346704"/>
            <a:ext cx="4114800" cy="107899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3346704"/>
            <a:ext cx="64008" cy="1078992"/>
          </a:xfrm>
          <a:prstGeom prst="rect">
            <a:avLst/>
          </a:prstGeom>
          <a:solidFill>
            <a:srgbClr val="22A97A"/>
          </a:solidFill>
          <a:ln w="12700">
            <a:solidFill>
              <a:srgbClr val="22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3649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A97A"/>
                </a:solidFill>
              </a:rPr>
              <a:t>Q3: Do cortical layers differ in stimulus coding?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621024"/>
            <a:ext cx="391363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CCE0"/>
                </a:solidFill>
              </a:rPr>
              <a:t>Yes. L4 consistently outperforms L2/3 and all-neuron baselines, consistent with thalamo-cortical input being the sharpest driver of stimulus category. L5 shows unexpectedly strong performance with fewer neurons.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D0ED"/>
                </a:solidFill>
              </a:rPr>
              <a:t>Limitations &amp; Future Directions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1005840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28032" y="1024128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 Sample imbalance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28032" y="1252728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Clips dominate (240/280 stimuli). Even with class-balanced subsamples, the natural distribution inflates majority-class accuracy — future work should oversample or use stratified generation.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09160" y="1810512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28032" y="1828800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 Calcium imaging resolution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28032" y="2057400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ΔF/F is a slow proxy for spiking. GCaMP6s has ~300 ms decay, blurring rapid neural dynamics. Fine temporal patterns within 5-frame bins are partially washed out.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09160" y="2615184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28032" y="2633472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 Linear classifier only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28032" y="2862072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Logistic regression can only exploit linearly separable structure. Non-linear classifiers (SVM-RBF, MLP) might reveal additional decodable information in the neural manifold.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09160" y="3419856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28032" y="3438144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→ Within-category decoding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28032" y="3666744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Next step: decode specific clip IDs or grating orientations rather than coarse category. This would test whether V1 carries fine identity information, not just category.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4224528"/>
            <a:ext cx="4114800" cy="713232"/>
          </a:xfrm>
          <a:prstGeom prst="rect">
            <a:avLst/>
          </a:prstGeom>
          <a:solidFill>
            <a:srgbClr val="0E20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28032" y="4242816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FD4"/>
                </a:solidFill>
              </a:rPr>
              <a:t>→ Fine temporal dynamics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28032" y="4471416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B8CCE0"/>
                </a:solidFill>
              </a:rPr>
              <a:t>Reduce bin size to 1-2 frames and use recurrent decoders to exploit rapid V1 temporal dynamics that 5-frame averaging discards.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06070"/>
                </a:solidFill>
              </a:rPr>
              <a:t>Seed: 42  ·  MICrONS v1718  ·  Session 9_4  ·  Full reproducible analysis in NEW_OUTPUT2.ipynb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2957</Words>
  <Application>Microsoft Office PowerPoint</Application>
  <PresentationFormat>On-screen Show (16:9)</PresentationFormat>
  <Paragraphs>391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Trapped in a Low Dimension — V1 Population Decoding</dc:title>
  <dc:subject>PptxGenJS Presentation</dc:subject>
  <dc:creator>PptxGenJS</dc:creator>
  <cp:lastModifiedBy>FILIP JANCZAK</cp:lastModifiedBy>
  <cp:revision>4</cp:revision>
  <dcterms:created xsi:type="dcterms:W3CDTF">2026-05-12T16:15:06Z</dcterms:created>
  <dcterms:modified xsi:type="dcterms:W3CDTF">2026-05-12T18:39:30Z</dcterms:modified>
</cp:coreProperties>
</file>